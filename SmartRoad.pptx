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3" r:id="rId1"/>
  </p:sldMasterIdLst>
  <p:sldIdLst>
    <p:sldId id="257" r:id="rId2"/>
    <p:sldId id="258" r:id="rId3"/>
    <p:sldId id="259" r:id="rId4"/>
    <p:sldId id="260" r:id="rId5"/>
    <p:sldId id="261" r:id="rId6"/>
    <p:sldId id="262" r:id="rId7"/>
    <p:sldId id="264" r:id="rId8"/>
    <p:sldId id="265" r:id="rId9"/>
    <p:sldId id="267" r:id="rId10"/>
    <p:sldId id="269" r:id="rId11"/>
    <p:sldId id="281" r:id="rId12"/>
    <p:sldId id="270" r:id="rId13"/>
    <p:sldId id="272" r:id="rId14"/>
    <p:sldId id="280" r:id="rId15"/>
    <p:sldId id="275" r:id="rId16"/>
    <p:sldId id="276" r:id="rId17"/>
    <p:sldId id="282" r:id="rId18"/>
    <p:sldId id="27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68" autoAdjust="0"/>
    <p:restoredTop sz="94660"/>
  </p:normalViewPr>
  <p:slideViewPr>
    <p:cSldViewPr snapToGrid="0">
      <p:cViewPr varScale="1">
        <p:scale>
          <a:sx n="85" d="100"/>
          <a:sy n="85" d="100"/>
        </p:scale>
        <p:origin x="61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39bce6d8bf1dd456/Documents/Smart%20Road%20IOT%20Project.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Gantt</a:t>
            </a:r>
            <a:r>
              <a:rPr lang="en-IN" baseline="0"/>
              <a:t> chart</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solidFill>
            <a:schemeClr val="accent3">
              <a:lumMod val="50000"/>
            </a:schemeClr>
          </a:solidFill>
        </a:ln>
        <a:effectLst/>
        <a:sp3d>
          <a:contourClr>
            <a:schemeClr val="accent3">
              <a:lumMod val="50000"/>
            </a:schemeClr>
          </a:contourClr>
        </a:sp3d>
      </c:spPr>
    </c:sideWall>
    <c:backWall>
      <c:thickness val="0"/>
      <c:spPr>
        <a:noFill/>
        <a:ln>
          <a:solidFill>
            <a:schemeClr val="accent3">
              <a:lumMod val="50000"/>
            </a:schemeClr>
          </a:solidFill>
        </a:ln>
        <a:effectLst/>
        <a:sp3d>
          <a:contourClr>
            <a:schemeClr val="accent3">
              <a:lumMod val="50000"/>
            </a:schemeClr>
          </a:contourClr>
        </a:sp3d>
      </c:spPr>
    </c:backWall>
    <c:plotArea>
      <c:layout/>
      <c:bar3DChart>
        <c:barDir val="bar"/>
        <c:grouping val="stacked"/>
        <c:varyColors val="0"/>
        <c:ser>
          <c:idx val="0"/>
          <c:order val="0"/>
          <c:tx>
            <c:strRef>
              <c:f>'[Smart Road IOT Project.xlsx]Sheet1'!$B$2</c:f>
              <c:strCache>
                <c:ptCount val="1"/>
                <c:pt idx="0">
                  <c:v>Start Date </c:v>
                </c:pt>
              </c:strCache>
            </c:strRef>
          </c:tx>
          <c:spPr>
            <a:noFill/>
            <a:ln>
              <a:noFill/>
            </a:ln>
            <a:effectLst/>
            <a:sp3d/>
          </c:spPr>
          <c:invertIfNegative val="0"/>
          <c:cat>
            <c:strRef>
              <c:f>'[Smart Road IOT Project.xlsx]Sheet1'!$A$3:$A$14</c:f>
              <c:strCache>
                <c:ptCount val="12"/>
                <c:pt idx="0">
                  <c:v>Research and Collecting Information </c:v>
                </c:pt>
                <c:pt idx="1">
                  <c:v>Planning and Budgeting</c:v>
                </c:pt>
                <c:pt idx="2">
                  <c:v>Purchasing electric and stationary items</c:v>
                </c:pt>
                <c:pt idx="3">
                  <c:v>Starting build project</c:v>
                </c:pt>
                <c:pt idx="4">
                  <c:v>Smart Road </c:v>
                </c:pt>
                <c:pt idx="5">
                  <c:v>Street light</c:v>
                </c:pt>
                <c:pt idx="6">
                  <c:v>Testing </c:v>
                </c:pt>
                <c:pt idx="7">
                  <c:v>Traffic signals</c:v>
                </c:pt>
                <c:pt idx="8">
                  <c:v>Coding &amp; Testing</c:v>
                </c:pt>
                <c:pt idx="9">
                  <c:v>Take a break for Exam </c:v>
                </c:pt>
                <c:pt idx="10">
                  <c:v>Smart garbage monitoring system</c:v>
                </c:pt>
                <c:pt idx="11">
                  <c:v>3D Model, Docummentation, Video  &amp; PPT</c:v>
                </c:pt>
              </c:strCache>
            </c:strRef>
          </c:cat>
          <c:val>
            <c:numRef>
              <c:f>'[Smart Road IOT Project.xlsx]Sheet1'!$B$3:$B$14</c:f>
              <c:numCache>
                <c:formatCode>d\-mmm</c:formatCode>
                <c:ptCount val="12"/>
                <c:pt idx="0">
                  <c:v>44883</c:v>
                </c:pt>
                <c:pt idx="1">
                  <c:v>44886</c:v>
                </c:pt>
                <c:pt idx="2">
                  <c:v>44888</c:v>
                </c:pt>
                <c:pt idx="3">
                  <c:v>44890</c:v>
                </c:pt>
                <c:pt idx="4">
                  <c:v>44888</c:v>
                </c:pt>
                <c:pt idx="5">
                  <c:v>44891</c:v>
                </c:pt>
                <c:pt idx="6">
                  <c:v>44895</c:v>
                </c:pt>
                <c:pt idx="7">
                  <c:v>44897</c:v>
                </c:pt>
                <c:pt idx="8">
                  <c:v>44901</c:v>
                </c:pt>
                <c:pt idx="9">
                  <c:v>44905</c:v>
                </c:pt>
                <c:pt idx="10">
                  <c:v>44921</c:v>
                </c:pt>
                <c:pt idx="11">
                  <c:v>44923</c:v>
                </c:pt>
              </c:numCache>
            </c:numRef>
          </c:val>
          <c:extLst>
            <c:ext xmlns:c16="http://schemas.microsoft.com/office/drawing/2014/chart" uri="{C3380CC4-5D6E-409C-BE32-E72D297353CC}">
              <c16:uniqueId val="{00000000-BE42-48BB-9E4C-A6668E96A3EE}"/>
            </c:ext>
          </c:extLst>
        </c:ser>
        <c:ser>
          <c:idx val="1"/>
          <c:order val="1"/>
          <c:tx>
            <c:strRef>
              <c:f>'[Smart Road IOT Project.xlsx]Sheet1'!$D$2</c:f>
              <c:strCache>
                <c:ptCount val="1"/>
                <c:pt idx="0">
                  <c:v> Duration </c:v>
                </c:pt>
              </c:strCache>
            </c:strRef>
          </c:tx>
          <c:spPr>
            <a:solidFill>
              <a:schemeClr val="accent2">
                <a:lumMod val="75000"/>
              </a:schemeClr>
            </a:solidFill>
            <a:ln>
              <a:noFill/>
            </a:ln>
            <a:effectLst/>
            <a:sp3d/>
          </c:spPr>
          <c:invertIfNegative val="0"/>
          <c:cat>
            <c:strRef>
              <c:f>'[Smart Road IOT Project.xlsx]Sheet1'!$A$3:$A$14</c:f>
              <c:strCache>
                <c:ptCount val="12"/>
                <c:pt idx="0">
                  <c:v>Research and Collecting Information </c:v>
                </c:pt>
                <c:pt idx="1">
                  <c:v>Planning and Budgeting</c:v>
                </c:pt>
                <c:pt idx="2">
                  <c:v>Purchasing electric and stationary items</c:v>
                </c:pt>
                <c:pt idx="3">
                  <c:v>Starting build project</c:v>
                </c:pt>
                <c:pt idx="4">
                  <c:v>Smart Road </c:v>
                </c:pt>
                <c:pt idx="5">
                  <c:v>Street light</c:v>
                </c:pt>
                <c:pt idx="6">
                  <c:v>Testing </c:v>
                </c:pt>
                <c:pt idx="7">
                  <c:v>Traffic signals</c:v>
                </c:pt>
                <c:pt idx="8">
                  <c:v>Coding &amp; Testing</c:v>
                </c:pt>
                <c:pt idx="9">
                  <c:v>Take a break for Exam </c:v>
                </c:pt>
                <c:pt idx="10">
                  <c:v>Smart garbage monitoring system</c:v>
                </c:pt>
                <c:pt idx="11">
                  <c:v>3D Model, Docummentation, Video  &amp; PPT</c:v>
                </c:pt>
              </c:strCache>
            </c:strRef>
          </c:cat>
          <c:val>
            <c:numRef>
              <c:f>'[Smart Road IOT Project.xlsx]Sheet1'!$D$3:$D$14</c:f>
              <c:numCache>
                <c:formatCode>General</c:formatCode>
                <c:ptCount val="12"/>
                <c:pt idx="0">
                  <c:v>2</c:v>
                </c:pt>
                <c:pt idx="1">
                  <c:v>1</c:v>
                </c:pt>
                <c:pt idx="2">
                  <c:v>7</c:v>
                </c:pt>
                <c:pt idx="3">
                  <c:v>4</c:v>
                </c:pt>
                <c:pt idx="4">
                  <c:v>3</c:v>
                </c:pt>
                <c:pt idx="5">
                  <c:v>2</c:v>
                </c:pt>
                <c:pt idx="6">
                  <c:v>1</c:v>
                </c:pt>
                <c:pt idx="7">
                  <c:v>3</c:v>
                </c:pt>
                <c:pt idx="8">
                  <c:v>4</c:v>
                </c:pt>
                <c:pt idx="9">
                  <c:v>14</c:v>
                </c:pt>
                <c:pt idx="10">
                  <c:v>2</c:v>
                </c:pt>
                <c:pt idx="11">
                  <c:v>1</c:v>
                </c:pt>
              </c:numCache>
            </c:numRef>
          </c:val>
          <c:extLst>
            <c:ext xmlns:c16="http://schemas.microsoft.com/office/drawing/2014/chart" uri="{C3380CC4-5D6E-409C-BE32-E72D297353CC}">
              <c16:uniqueId val="{00000001-BE42-48BB-9E4C-A6668E96A3EE}"/>
            </c:ext>
          </c:extLst>
        </c:ser>
        <c:dLbls>
          <c:showLegendKey val="0"/>
          <c:showVal val="0"/>
          <c:showCatName val="0"/>
          <c:showSerName val="0"/>
          <c:showPercent val="0"/>
          <c:showBubbleSize val="0"/>
        </c:dLbls>
        <c:gapWidth val="100"/>
        <c:gapDepth val="100"/>
        <c:shape val="box"/>
        <c:axId val="511049776"/>
        <c:axId val="511044200"/>
        <c:axId val="0"/>
      </c:bar3DChart>
      <c:catAx>
        <c:axId val="511049776"/>
        <c:scaling>
          <c:orientation val="maxMin"/>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511044200"/>
        <c:crosses val="autoZero"/>
        <c:auto val="1"/>
        <c:lblAlgn val="ctr"/>
        <c:lblOffset val="100"/>
        <c:noMultiLvlLbl val="0"/>
      </c:catAx>
      <c:valAx>
        <c:axId val="511044200"/>
        <c:scaling>
          <c:orientation val="minMax"/>
          <c:min val="44883"/>
        </c:scaling>
        <c:delete val="0"/>
        <c:axPos val="t"/>
        <c:majorGridlines>
          <c:spPr>
            <a:ln w="9525" cap="flat" cmpd="sng" algn="ctr">
              <a:solidFill>
                <a:schemeClr val="accent2">
                  <a:lumMod val="50000"/>
                </a:schemeClr>
              </a:solidFill>
              <a:round/>
            </a:ln>
            <a:effectLst/>
          </c:spPr>
        </c:majorGridlines>
        <c:numFmt formatCode="d\-mmm"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10497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AE6CEA0-430D-46BE-BEA5-B78EFD009E9D}" type="datetimeFigureOut">
              <a:rPr lang="en-IN" smtClean="0"/>
              <a:t>29-12-2022</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3599642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E6CEA0-430D-46BE-BEA5-B78EFD009E9D}" type="datetimeFigureOut">
              <a:rPr lang="en-IN" smtClean="0"/>
              <a:t>29-12-2022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878962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E6CEA0-430D-46BE-BEA5-B78EFD009E9D}" type="datetimeFigureOut">
              <a:rPr lang="en-IN" smtClean="0"/>
              <a:t>29-12-2022</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749241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E6CEA0-430D-46BE-BEA5-B78EFD009E9D}" type="datetimeFigureOut">
              <a:rPr lang="en-IN" smtClean="0"/>
              <a:t>29-12-2022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810590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E6CEA0-430D-46BE-BEA5-B78EFD009E9D}" type="datetimeFigureOut">
              <a:rPr lang="en-IN" smtClean="0"/>
              <a:t>29-12-2022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935092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E6CEA0-430D-46BE-BEA5-B78EFD009E9D}" type="datetimeFigureOut">
              <a:rPr lang="en-IN" smtClean="0"/>
              <a:t>29-12-2022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1029845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E6CEA0-430D-46BE-BEA5-B78EFD009E9D}" type="datetimeFigureOut">
              <a:rPr lang="en-IN" smtClean="0"/>
              <a:t>29-12-2022</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1006738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E6CEA0-430D-46BE-BEA5-B78EFD009E9D}" type="datetimeFigureOut">
              <a:rPr lang="en-IN" smtClean="0"/>
              <a:t>29-12-2022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2606749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E6CEA0-430D-46BE-BEA5-B78EFD009E9D}" type="datetimeFigureOut">
              <a:rPr lang="en-IN" smtClean="0"/>
              <a:t>29-12-2022</a:t>
            </a:fld>
            <a:endParaRPr lang="en-IN"/>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334135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E6CEA0-430D-46BE-BEA5-B78EFD009E9D}" type="datetimeFigureOut">
              <a:rPr lang="en-IN" smtClean="0"/>
              <a:t>29-12-2022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3250337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AE6CEA0-430D-46BE-BEA5-B78EFD009E9D}" type="datetimeFigureOut">
              <a:rPr lang="en-IN" smtClean="0"/>
              <a:t>29-12-2022</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38171620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AE6CEA0-430D-46BE-BEA5-B78EFD009E9D}" type="datetimeFigureOut">
              <a:rPr lang="en-IN" smtClean="0"/>
              <a:t>29-12-2022</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23665849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E6CEA0-430D-46BE-BEA5-B78EFD009E9D}" type="datetimeFigureOut">
              <a:rPr lang="en-IN" smtClean="0"/>
              <a:t>29-12-2022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3102881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AE6CEA0-430D-46BE-BEA5-B78EFD009E9D}" type="datetimeFigureOut">
              <a:rPr lang="en-IN" smtClean="0"/>
              <a:t>29-12-2022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4166173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AE6CEA0-430D-46BE-BEA5-B78EFD009E9D}" type="datetimeFigureOut">
              <a:rPr lang="en-IN" smtClean="0"/>
              <a:t>29-12-2022</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22210801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0AE6CEA0-430D-46BE-BEA5-B78EFD009E9D}" type="datetimeFigureOut">
              <a:rPr lang="en-IN" smtClean="0"/>
              <a:t>29-12-2022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25912846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0AE6CEA0-430D-46BE-BEA5-B78EFD009E9D}" type="datetimeFigureOut">
              <a:rPr lang="en-IN" smtClean="0"/>
              <a:t>29-12-2022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A31F264-C472-4F6B-8620-6F9658EC6497}" type="slidenum">
              <a:rPr lang="en-IN" smtClean="0"/>
              <a:t>‹#›</a:t>
            </a:fld>
            <a:endParaRPr lang="en-IN"/>
          </a:p>
        </p:txBody>
      </p:sp>
    </p:spTree>
    <p:extLst>
      <p:ext uri="{BB962C8B-B14F-4D97-AF65-F5344CB8AC3E}">
        <p14:creationId xmlns:p14="http://schemas.microsoft.com/office/powerpoint/2010/main" val="763815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AE6CEA0-430D-46BE-BEA5-B78EFD009E9D}" type="datetimeFigureOut">
              <a:rPr lang="en-IN" smtClean="0"/>
              <a:t>29-12-2022</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A31F264-C472-4F6B-8620-6F9658EC6497}" type="slidenum">
              <a:rPr lang="en-IN" smtClean="0"/>
              <a:t>‹#›</a:t>
            </a:fld>
            <a:endParaRPr lang="en-IN"/>
          </a:p>
        </p:txBody>
      </p:sp>
    </p:spTree>
    <p:extLst>
      <p:ext uri="{BB962C8B-B14F-4D97-AF65-F5344CB8AC3E}">
        <p14:creationId xmlns:p14="http://schemas.microsoft.com/office/powerpoint/2010/main" val="1706264446"/>
      </p:ext>
    </p:extLst>
  </p:cSld>
  <p:clrMap bg1="lt1" tx1="dk1" bg2="lt2" tx2="dk2" accent1="accent1" accent2="accent2" accent3="accent3" accent4="accent4" accent5="accent5" accent6="accent6" hlink="hlink" folHlink="folHlink"/>
  <p:sldLayoutIdLst>
    <p:sldLayoutId id="2147484044" r:id="rId1"/>
    <p:sldLayoutId id="2147484045" r:id="rId2"/>
    <p:sldLayoutId id="2147484046" r:id="rId3"/>
    <p:sldLayoutId id="2147484047" r:id="rId4"/>
    <p:sldLayoutId id="2147484048" r:id="rId5"/>
    <p:sldLayoutId id="2147484049" r:id="rId6"/>
    <p:sldLayoutId id="2147484050" r:id="rId7"/>
    <p:sldLayoutId id="2147484051" r:id="rId8"/>
    <p:sldLayoutId id="2147484052" r:id="rId9"/>
    <p:sldLayoutId id="2147484053" r:id="rId10"/>
    <p:sldLayoutId id="2147484054" r:id="rId11"/>
    <p:sldLayoutId id="2147484055" r:id="rId12"/>
    <p:sldLayoutId id="2147484056" r:id="rId13"/>
    <p:sldLayoutId id="2147484057" r:id="rId14"/>
    <p:sldLayoutId id="2147484058" r:id="rId15"/>
    <p:sldLayoutId id="2147484059" r:id="rId16"/>
    <p:sldLayoutId id="2147484060"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hyperlink" Target="http://www.goggle.com/" TargetMode="External"/><Relationship Id="rId7" Type="http://schemas.openxmlformats.org/officeDocument/2006/relationships/hyperlink" Target="https://www.pantechsolutions.net/iot-based-smart-waste-management-system-for-smart-city" TargetMode="External"/><Relationship Id="rId2" Type="http://schemas.openxmlformats.org/officeDocument/2006/relationships/image" Target="../media/image11.gif"/><Relationship Id="rId1" Type="http://schemas.openxmlformats.org/officeDocument/2006/relationships/slideLayout" Target="../slideLayouts/slideLayout11.xml"/><Relationship Id="rId6" Type="http://schemas.openxmlformats.org/officeDocument/2006/relationships/hyperlink" Target="https://www.researchgate.net/publication/360620242_ACCIDENT_DETECTION_AND_ALERT_SYSTEM" TargetMode="External"/><Relationship Id="rId5" Type="http://schemas.openxmlformats.org/officeDocument/2006/relationships/hyperlink" Target="https://create.arduino.cc/projecthub/sagnik2017ghosh/iot-based-smart-street-light-system-8e9929" TargetMode="External"/><Relationship Id="rId4" Type="http://schemas.openxmlformats.org/officeDocument/2006/relationships/hyperlink" Target="http://www.wikipedia.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1FDF56-C588-C120-9A94-CA4996972FB6}"/>
              </a:ext>
            </a:extLst>
          </p:cNvPr>
          <p:cNvPicPr>
            <a:picLocks noChangeAspect="1"/>
          </p:cNvPicPr>
          <p:nvPr/>
        </p:nvPicPr>
        <p:blipFill>
          <a:blip r:embed="rId2"/>
          <a:stretch>
            <a:fillRect/>
          </a:stretch>
        </p:blipFill>
        <p:spPr>
          <a:xfrm>
            <a:off x="651990" y="668608"/>
            <a:ext cx="1005927" cy="1012024"/>
          </a:xfrm>
          <a:prstGeom prst="rect">
            <a:avLst/>
          </a:prstGeom>
        </p:spPr>
      </p:pic>
      <p:sp>
        <p:nvSpPr>
          <p:cNvPr id="2" name="Title 1">
            <a:extLst>
              <a:ext uri="{FF2B5EF4-FFF2-40B4-BE49-F238E27FC236}">
                <a16:creationId xmlns:a16="http://schemas.microsoft.com/office/drawing/2014/main" id="{A2C8FA36-E93F-8144-5840-870107FDA8EF}"/>
              </a:ext>
            </a:extLst>
          </p:cNvPr>
          <p:cNvSpPr>
            <a:spLocks noGrp="1"/>
          </p:cNvSpPr>
          <p:nvPr>
            <p:ph type="title"/>
          </p:nvPr>
        </p:nvSpPr>
        <p:spPr>
          <a:xfrm>
            <a:off x="1849898" y="962660"/>
            <a:ext cx="8761413" cy="706964"/>
          </a:xfrm>
        </p:spPr>
        <p:txBody>
          <a:bodyPr/>
          <a:lstStyle/>
          <a:p>
            <a:pPr algn="ctr"/>
            <a:r>
              <a:rPr lang="en-US" sz="1600" dirty="0">
                <a:latin typeface="Times New Roman" panose="02020603050405020304" pitchFamily="18" charset="0"/>
                <a:cs typeface="Times New Roman" panose="02020603050405020304" pitchFamily="18" charset="0"/>
              </a:rPr>
              <a:t>BHAGWAN MAHAVEER COLLEGE OF COMPUTER APPLICATION, SURAT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M.Sc.IT (Integrated)</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TY B.Sc. (Information Technology)</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Semester 5</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Subject : 1020406503 Internet Of Things</a:t>
            </a:r>
            <a:br>
              <a:rPr lang="en-US"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E26839D-A8CF-EC0A-A4A3-BE8C873F4A80}"/>
              </a:ext>
            </a:extLst>
          </p:cNvPr>
          <p:cNvSpPr txBox="1"/>
          <p:nvPr/>
        </p:nvSpPr>
        <p:spPr>
          <a:xfrm>
            <a:off x="4154916" y="2890391"/>
            <a:ext cx="4151376" cy="1077218"/>
          </a:xfrm>
          <a:prstGeom prst="rect">
            <a:avLst/>
          </a:prstGeom>
          <a:noFill/>
        </p:spPr>
        <p:txBody>
          <a:bodyPr wrap="square" rtlCol="0">
            <a:spAutoFit/>
          </a:bodyPr>
          <a:lstStyle/>
          <a:p>
            <a:pPr algn="ctr"/>
            <a:r>
              <a:rPr lang="en-US" sz="3200" b="1" dirty="0">
                <a:solidFill>
                  <a:schemeClr val="tx2">
                    <a:lumMod val="75000"/>
                  </a:schemeClr>
                </a:solidFill>
                <a:latin typeface="Times New Roman" panose="02020603050405020304" pitchFamily="18" charset="0"/>
                <a:cs typeface="Times New Roman" panose="02020603050405020304" pitchFamily="18" charset="0"/>
              </a:rPr>
              <a:t>GROUP : 12</a:t>
            </a:r>
          </a:p>
          <a:p>
            <a:pPr algn="ctr"/>
            <a:r>
              <a:rPr lang="en-US" sz="3200" b="1" dirty="0">
                <a:solidFill>
                  <a:schemeClr val="tx2">
                    <a:lumMod val="75000"/>
                  </a:schemeClr>
                </a:solidFill>
                <a:latin typeface="Times New Roman" panose="02020603050405020304" pitchFamily="18" charset="0"/>
                <a:cs typeface="Times New Roman" panose="02020603050405020304" pitchFamily="18" charset="0"/>
              </a:rPr>
              <a:t>SMART ROAD</a:t>
            </a:r>
            <a:endParaRPr lang="en-IN" sz="3200" b="1" dirty="0">
              <a:solidFill>
                <a:schemeClr val="tx2">
                  <a:lumMod val="75000"/>
                </a:schemeClr>
              </a:solidFill>
              <a:latin typeface="Times New Roman" panose="02020603050405020304" pitchFamily="18" charset="0"/>
              <a:cs typeface="Times New Roman" panose="02020603050405020304" pitchFamily="18" charset="0"/>
            </a:endParaRPr>
          </a:p>
        </p:txBody>
      </p:sp>
      <p:graphicFrame>
        <p:nvGraphicFramePr>
          <p:cNvPr id="6" name="Table 6">
            <a:extLst>
              <a:ext uri="{FF2B5EF4-FFF2-40B4-BE49-F238E27FC236}">
                <a16:creationId xmlns:a16="http://schemas.microsoft.com/office/drawing/2014/main" id="{C082B095-166E-4F08-105C-FE4E78D4DFE2}"/>
              </a:ext>
            </a:extLst>
          </p:cNvPr>
          <p:cNvGraphicFramePr>
            <a:graphicFrameLocks noGrp="1"/>
          </p:cNvGraphicFramePr>
          <p:nvPr>
            <p:extLst>
              <p:ext uri="{D42A27DB-BD31-4B8C-83A1-F6EECF244321}">
                <p14:modId xmlns:p14="http://schemas.microsoft.com/office/powerpoint/2010/main" val="1088337148"/>
              </p:ext>
            </p:extLst>
          </p:nvPr>
        </p:nvGraphicFramePr>
        <p:xfrm>
          <a:off x="2032000" y="4818888"/>
          <a:ext cx="8128000" cy="1878922"/>
        </p:xfrm>
        <a:graphic>
          <a:graphicData uri="http://schemas.openxmlformats.org/drawingml/2006/table">
            <a:tbl>
              <a:tblPr firstRow="1" bandRow="1">
                <a:tableStyleId>{E8B1032C-EA38-4F05-BA0D-38AFFFC7BED3}</a:tableStyleId>
              </a:tblPr>
              <a:tblGrid>
                <a:gridCol w="4064000">
                  <a:extLst>
                    <a:ext uri="{9D8B030D-6E8A-4147-A177-3AD203B41FA5}">
                      <a16:colId xmlns:a16="http://schemas.microsoft.com/office/drawing/2014/main" val="3817266538"/>
                    </a:ext>
                  </a:extLst>
                </a:gridCol>
                <a:gridCol w="4064000">
                  <a:extLst>
                    <a:ext uri="{9D8B030D-6E8A-4147-A177-3AD203B41FA5}">
                      <a16:colId xmlns:a16="http://schemas.microsoft.com/office/drawing/2014/main" val="1523758327"/>
                    </a:ext>
                  </a:extLst>
                </a:gridCol>
              </a:tblGrid>
              <a:tr h="395562">
                <a:tc>
                  <a:txBody>
                    <a:bodyPr/>
                    <a:lstStyle/>
                    <a:p>
                      <a:r>
                        <a:rPr lang="en-US" dirty="0">
                          <a:latin typeface="Times New Roman" panose="02020603050405020304" pitchFamily="18" charset="0"/>
                          <a:cs typeface="Times New Roman" panose="02020603050405020304" pitchFamily="18" charset="0"/>
                        </a:rPr>
                        <a:t>Enrollment No:-</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29732120"/>
                  </a:ext>
                </a:extLst>
              </a:tr>
              <a:tr h="370840">
                <a:tc>
                  <a:txBody>
                    <a:bodyPr/>
                    <a:lstStyle/>
                    <a:p>
                      <a:r>
                        <a:rPr lang="en-US" dirty="0">
                          <a:latin typeface="Times New Roman" panose="02020603050405020304" pitchFamily="18" charset="0"/>
                          <a:cs typeface="Times New Roman" panose="02020603050405020304" pitchFamily="18" charset="0"/>
                        </a:rPr>
                        <a:t>20020406074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Sneha Raval</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99863966"/>
                  </a:ext>
                </a:extLst>
              </a:tr>
              <a:tr h="370840">
                <a:tc>
                  <a:txBody>
                    <a:bodyPr/>
                    <a:lstStyle/>
                    <a:p>
                      <a:r>
                        <a:rPr lang="en-US" dirty="0">
                          <a:latin typeface="Times New Roman" panose="02020603050405020304" pitchFamily="18" charset="0"/>
                          <a:cs typeface="Times New Roman" panose="02020603050405020304" pitchFamily="18" charset="0"/>
                        </a:rPr>
                        <a:t>20020406075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Vishva Sakariya</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31714073"/>
                  </a:ext>
                </a:extLst>
              </a:tr>
              <a:tr h="370840">
                <a:tc>
                  <a:txBody>
                    <a:bodyPr/>
                    <a:lstStyle/>
                    <a:p>
                      <a:r>
                        <a:rPr lang="en-US" dirty="0">
                          <a:latin typeface="Times New Roman" panose="02020603050405020304" pitchFamily="18" charset="0"/>
                          <a:cs typeface="Times New Roman" panose="02020603050405020304" pitchFamily="18" charset="0"/>
                        </a:rPr>
                        <a:t>20020406076</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Vraz Sakariya</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30264174"/>
                  </a:ext>
                </a:extLst>
              </a:tr>
              <a:tr h="370840">
                <a:tc>
                  <a:txBody>
                    <a:bodyPr/>
                    <a:lstStyle/>
                    <a:p>
                      <a:r>
                        <a:rPr lang="en-US" dirty="0">
                          <a:latin typeface="Times New Roman" panose="02020603050405020304" pitchFamily="18" charset="0"/>
                          <a:cs typeface="Times New Roman" panose="02020603050405020304" pitchFamily="18" charset="0"/>
                        </a:rPr>
                        <a:t>20020406077</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Romil Sanghani</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1639955"/>
                  </a:ext>
                </a:extLst>
              </a:tr>
            </a:tbl>
          </a:graphicData>
        </a:graphic>
      </p:graphicFrame>
      <p:sp>
        <p:nvSpPr>
          <p:cNvPr id="7" name="TextBox 6">
            <a:extLst>
              <a:ext uri="{FF2B5EF4-FFF2-40B4-BE49-F238E27FC236}">
                <a16:creationId xmlns:a16="http://schemas.microsoft.com/office/drawing/2014/main" id="{797966BA-E768-B2EF-A24B-88541202D86A}"/>
              </a:ext>
            </a:extLst>
          </p:cNvPr>
          <p:cNvSpPr txBox="1"/>
          <p:nvPr/>
        </p:nvSpPr>
        <p:spPr>
          <a:xfrm>
            <a:off x="2032000" y="4275490"/>
            <a:ext cx="1661398" cy="400110"/>
          </a:xfrm>
          <a:prstGeom prst="rect">
            <a:avLst/>
          </a:prstGeom>
          <a:noFill/>
        </p:spPr>
        <p:txBody>
          <a:bodyPr wrap="square" rtlCol="0">
            <a:spAutoFit/>
          </a:bodyPr>
          <a:lstStyle/>
          <a:p>
            <a:pPr marL="285750" indent="-285750">
              <a:buFont typeface="Wingdings" panose="05000000000000000000" pitchFamily="2" charset="2"/>
              <a:buChar char="v"/>
            </a:pPr>
            <a:r>
              <a:rPr lang="en-US" sz="2000" b="1" u="sng" dirty="0">
                <a:latin typeface="Times New Roman" panose="02020603050405020304" pitchFamily="18" charset="0"/>
                <a:cs typeface="Times New Roman" panose="02020603050405020304" pitchFamily="18" charset="0"/>
              </a:rPr>
              <a:t>Team</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532773"/>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68E25-18F4-655F-96D6-E699EEAFB126}"/>
              </a:ext>
            </a:extLst>
          </p:cNvPr>
          <p:cNvSpPr>
            <a:spLocks noGrp="1"/>
          </p:cNvSpPr>
          <p:nvPr>
            <p:ph type="title"/>
          </p:nvPr>
        </p:nvSpPr>
        <p:spPr>
          <a:xfrm>
            <a:off x="1154953" y="1827015"/>
            <a:ext cx="8825660" cy="1822514"/>
          </a:xfrm>
        </p:spPr>
        <p:txBody>
          <a:bodyPr/>
          <a:lstStyle/>
          <a:p>
            <a:pPr marL="571500" indent="-571500">
              <a:buFont typeface="Wingdings" panose="05000000000000000000" pitchFamily="2" charset="2"/>
              <a:buChar char="§"/>
            </a:pPr>
            <a:r>
              <a:rPr lang="en-US" sz="3200" u="sng" dirty="0">
                <a:latin typeface="Times New Roman" panose="02020603050405020304" pitchFamily="18" charset="0"/>
                <a:cs typeface="Times New Roman" panose="02020603050405020304" pitchFamily="18" charset="0"/>
              </a:rPr>
              <a:t>PROJECT OVERVIEW </a:t>
            </a:r>
            <a:endParaRPr lang="en-IN" sz="3200" u="sng"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4EBE15E-2A41-0614-99D2-3941B141F2E5}"/>
              </a:ext>
            </a:extLst>
          </p:cNvPr>
          <p:cNvSpPr>
            <a:spLocks noGrp="1"/>
          </p:cNvSpPr>
          <p:nvPr>
            <p:ph type="body" idx="1"/>
          </p:nvPr>
        </p:nvSpPr>
        <p:spPr>
          <a:xfrm>
            <a:off x="1154954" y="4924383"/>
            <a:ext cx="8825659" cy="860400"/>
          </a:xfrm>
        </p:spPr>
        <p:txBody>
          <a:bodyPr>
            <a:noAutofit/>
          </a:bodyPr>
          <a:lstStyle/>
          <a:p>
            <a:r>
              <a:rPr lang="en-US" sz="1800" dirty="0">
                <a:solidFill>
                  <a:schemeClr val="tx1"/>
                </a:solidFill>
                <a:latin typeface="Times New Roman" panose="02020603050405020304" pitchFamily="18" charset="0"/>
                <a:cs typeface="Times New Roman" panose="02020603050405020304" pitchFamily="18" charset="0"/>
              </a:rPr>
              <a:t>This Project is for Smart Road System which include some of smart Technology such as Smart Street Light, Smart Traffic Signals and Smart Waste Management System technology with the help of IOT(Internet of Things).</a:t>
            </a:r>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F10955E-3EE0-0C6F-7F1B-D31A09B79CEA}"/>
              </a:ext>
            </a:extLst>
          </p:cNvPr>
          <p:cNvSpPr txBox="1"/>
          <p:nvPr/>
        </p:nvSpPr>
        <p:spPr>
          <a:xfrm>
            <a:off x="1154954" y="3827857"/>
            <a:ext cx="8555974"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“We can build a future where transportation is both significantly safer and more efficient”.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42423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3C41F-632B-93A0-839F-C9E6325CB3D3}"/>
              </a:ext>
            </a:extLst>
          </p:cNvPr>
          <p:cNvSpPr>
            <a:spLocks noGrp="1"/>
          </p:cNvSpPr>
          <p:nvPr>
            <p:ph type="title"/>
          </p:nvPr>
        </p:nvSpPr>
        <p:spPr/>
        <p:txBody>
          <a:bodyPr/>
          <a:lstStyle/>
          <a:p>
            <a:pPr marL="457200"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What are Smart Roads?</a:t>
            </a:r>
            <a:endParaRPr lang="en-IN" sz="32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1AE085F-2A80-5280-7AD7-D34FF6C9F7B3}"/>
              </a:ext>
            </a:extLst>
          </p:cNvPr>
          <p:cNvSpPr>
            <a:spLocks noGrp="1"/>
          </p:cNvSpPr>
          <p:nvPr>
            <p:ph type="body" sz="half" idx="2"/>
          </p:nvPr>
        </p:nvSpPr>
        <p:spPr/>
        <p:txBody>
          <a:bodyPr/>
          <a:lstStyle/>
          <a:p>
            <a:pPr algn="just"/>
            <a:r>
              <a:rPr lang="en-US" dirty="0">
                <a:solidFill>
                  <a:schemeClr val="tx1"/>
                </a:solidFill>
                <a:latin typeface="Times New Roman" panose="02020603050405020304" pitchFamily="18" charset="0"/>
                <a:cs typeface="Times New Roman" panose="02020603050405020304" pitchFamily="18" charset="0"/>
              </a:rPr>
              <a:t>	Smart Roads are roads enabled with technological tools that interact with the environment (people and nature) to enable safe and efficient transportation. They combine physical infrastructures (such as sensors and solar panels) with software infrastructure.</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844694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B2127-087A-31EE-CEF4-B6F578C418F6}"/>
              </a:ext>
            </a:extLst>
          </p:cNvPr>
          <p:cNvSpPr>
            <a:spLocks noGrp="1"/>
          </p:cNvSpPr>
          <p:nvPr>
            <p:ph type="title"/>
          </p:nvPr>
        </p:nvSpPr>
        <p:spPr/>
        <p:txBody>
          <a:bodyPr/>
          <a:lstStyle/>
          <a:p>
            <a:pPr marL="571500" indent="-571500">
              <a:buFont typeface="Wingdings" panose="05000000000000000000" pitchFamily="2" charset="2"/>
              <a:buChar char="ü"/>
            </a:pPr>
            <a:r>
              <a:rPr lang="en-US" sz="3200" b="1" dirty="0">
                <a:latin typeface="Times New Roman" panose="02020603050405020304" pitchFamily="18" charset="0"/>
                <a:cs typeface="Times New Roman" panose="02020603050405020304" pitchFamily="18" charset="0"/>
              </a:rPr>
              <a:t>The Problem:</a:t>
            </a:r>
            <a:br>
              <a:rPr lang="en-US" sz="3200" b="1"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Traffics in Mega cities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Increased accidents rates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People Throwing trash anywhere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Potholes: Severe accidents can occur when blacktop or asphalt are missing in large chunks from road.</a:t>
            </a:r>
            <a:br>
              <a:rPr lang="en-US" sz="1800"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F78F783-D52D-7EBF-BD18-100C8FAA8BC7}"/>
              </a:ext>
            </a:extLst>
          </p:cNvPr>
          <p:cNvSpPr>
            <a:spLocks noGrp="1"/>
          </p:cNvSpPr>
          <p:nvPr>
            <p:ph type="body" idx="1"/>
          </p:nvPr>
        </p:nvSpPr>
        <p:spPr>
          <a:xfrm>
            <a:off x="6895559" y="2677644"/>
            <a:ext cx="3894361" cy="2625876"/>
          </a:xfrm>
        </p:spPr>
        <p:txBody>
          <a:bodyPr>
            <a:normAutofit fontScale="70000" lnSpcReduction="20000"/>
          </a:bodyPr>
          <a:lstStyle/>
          <a:p>
            <a:pPr marL="457200" indent="-457200">
              <a:buFont typeface="Wingdings" panose="05000000000000000000" pitchFamily="2" charset="2"/>
              <a:buChar char="§"/>
            </a:pPr>
            <a:r>
              <a:rPr lang="en-US" sz="4100" b="1" dirty="0">
                <a:solidFill>
                  <a:schemeClr val="tx1"/>
                </a:solidFill>
                <a:latin typeface="Times New Roman" panose="02020603050405020304" pitchFamily="18" charset="0"/>
                <a:cs typeface="Times New Roman" panose="02020603050405020304" pitchFamily="18" charset="0"/>
              </a:rPr>
              <a:t>The goal:</a:t>
            </a:r>
          </a:p>
          <a:p>
            <a:pPr marL="457200" indent="-457200">
              <a:buFont typeface="Arial" panose="020B0604020202020204" pitchFamily="34" charset="0"/>
              <a:buChar char="•"/>
            </a:pPr>
            <a:r>
              <a:rPr lang="en-IN" sz="2300" dirty="0">
                <a:solidFill>
                  <a:schemeClr val="tx1"/>
                </a:solidFill>
                <a:latin typeface="Times New Roman" panose="02020603050405020304" pitchFamily="18" charset="0"/>
                <a:cs typeface="Times New Roman" panose="02020603050405020304" pitchFamily="18" charset="0"/>
              </a:rPr>
              <a:t>Make road smart with used of these advanced technology</a:t>
            </a:r>
          </a:p>
          <a:p>
            <a:pPr marL="457200" indent="-457200">
              <a:buFont typeface="Arial" panose="020B0604020202020204" pitchFamily="34" charset="0"/>
              <a:buChar char="•"/>
            </a:pPr>
            <a:r>
              <a:rPr lang="en-IN" sz="2300" dirty="0">
                <a:solidFill>
                  <a:schemeClr val="tx1"/>
                </a:solidFill>
                <a:latin typeface="Times New Roman" panose="02020603050405020304" pitchFamily="18" charset="0"/>
                <a:cs typeface="Times New Roman" panose="02020603050405020304" pitchFamily="18" charset="0"/>
              </a:rPr>
              <a:t>Provide smart traffic signals</a:t>
            </a:r>
          </a:p>
          <a:p>
            <a:pPr marL="457200" indent="-457200">
              <a:buFont typeface="Arial" panose="020B0604020202020204" pitchFamily="34" charset="0"/>
              <a:buChar char="•"/>
            </a:pPr>
            <a:r>
              <a:rPr lang="en-IN" sz="2300" dirty="0">
                <a:solidFill>
                  <a:schemeClr val="tx1"/>
                </a:solidFill>
                <a:latin typeface="Times New Roman" panose="02020603050405020304" pitchFamily="18" charset="0"/>
                <a:cs typeface="Times New Roman" panose="02020603050405020304" pitchFamily="18" charset="0"/>
              </a:rPr>
              <a:t>Smart waste management system for reduce man power and clean environment</a:t>
            </a:r>
          </a:p>
        </p:txBody>
      </p:sp>
    </p:spTree>
    <p:extLst>
      <p:ext uri="{BB962C8B-B14F-4D97-AF65-F5344CB8AC3E}">
        <p14:creationId xmlns:p14="http://schemas.microsoft.com/office/powerpoint/2010/main" val="273282178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812D9-A789-C30D-AFB0-6991C572263D}"/>
              </a:ext>
            </a:extLst>
          </p:cNvPr>
          <p:cNvSpPr>
            <a:spLocks noGrp="1"/>
          </p:cNvSpPr>
          <p:nvPr>
            <p:ph type="title"/>
          </p:nvPr>
        </p:nvSpPr>
        <p:spPr/>
        <p:txBody>
          <a:bodyPr/>
          <a:lstStyle/>
          <a:p>
            <a:pPr marL="742950" indent="-742950">
              <a:buFont typeface="+mj-lt"/>
              <a:buAutoNum type="arabicPeriod"/>
            </a:pPr>
            <a:r>
              <a:rPr lang="en-US" sz="3200" u="sng" dirty="0">
                <a:latin typeface="Times New Roman" panose="02020603050405020304" pitchFamily="18" charset="0"/>
                <a:cs typeface="Times New Roman" panose="02020603050405020304" pitchFamily="18" charset="0"/>
              </a:rPr>
              <a:t>Abstract</a:t>
            </a:r>
            <a:r>
              <a:rPr lang="en-US" sz="32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FC1FED-CEA1-DA49-3EBC-3D9FA88B6B14}"/>
              </a:ext>
            </a:extLst>
          </p:cNvPr>
          <p:cNvSpPr>
            <a:spLocks noGrp="1"/>
          </p:cNvSpPr>
          <p:nvPr>
            <p:ph idx="1"/>
          </p:nvPr>
        </p:nvSpPr>
        <p:spPr/>
        <p:txBody>
          <a:bodyPr/>
          <a:lstStyle/>
          <a:p>
            <a:pPr marL="686435" marR="0" indent="227965">
              <a:lnSpc>
                <a:spcPct val="110000"/>
              </a:lnSpc>
              <a:spcBef>
                <a:spcPts val="0"/>
              </a:spcBef>
              <a:spcAft>
                <a:spcPts val="0"/>
              </a:spcAft>
            </a:pP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Smart roads built on IOT and information and communications technology can make it possible for cities and transportation authorities to collect analyse data to improve day-to-day traffic management. </a:t>
            </a:r>
            <a:endParaRPr lang="en-IN" sz="18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marL="686435" marR="0" indent="227965">
              <a:lnSpc>
                <a:spcPct val="110000"/>
              </a:lnSpc>
              <a:spcBef>
                <a:spcPts val="0"/>
              </a:spcBef>
              <a:spcAft>
                <a:spcPts val="0"/>
              </a:spcAft>
            </a:pP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Smart Road with IOT based traffic management, So IOT can help the traffic system to be automated and monitor the traffic status using the internet. Automatic street light system is smart and provides a safe night time environment for all road users including pedestrians.</a:t>
            </a:r>
            <a:endParaRPr lang="en-IN" sz="18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marL="686435" marR="0" indent="227965">
              <a:lnSpc>
                <a:spcPct val="110000"/>
              </a:lnSpc>
              <a:spcBef>
                <a:spcPts val="0"/>
              </a:spcBef>
              <a:spcAft>
                <a:spcPts val="110"/>
              </a:spcAft>
            </a:pP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Smart waste management system : In this system, a 24*7 monitoring system is designed for monitoring dumpsters.</a:t>
            </a:r>
            <a:endParaRPr lang="en-IN" sz="18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marL="0" indent="0">
              <a:buNone/>
            </a:pPr>
            <a:endParaRPr lang="en-IN" dirty="0"/>
          </a:p>
        </p:txBody>
      </p:sp>
    </p:spTree>
    <p:extLst>
      <p:ext uri="{BB962C8B-B14F-4D97-AF65-F5344CB8AC3E}">
        <p14:creationId xmlns:p14="http://schemas.microsoft.com/office/powerpoint/2010/main" val="16689280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A8ECD-5249-4735-35A0-6D56604568BD}"/>
              </a:ext>
            </a:extLst>
          </p:cNvPr>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2. </a:t>
            </a:r>
            <a:r>
              <a:rPr lang="en-US" sz="3600" u="sng" dirty="0">
                <a:latin typeface="Times New Roman" panose="02020603050405020304" pitchFamily="18" charset="0"/>
                <a:cs typeface="Times New Roman" panose="02020603050405020304" pitchFamily="18" charset="0"/>
              </a:rPr>
              <a:t>Introduction</a:t>
            </a:r>
            <a:r>
              <a:rPr lang="en-US" sz="3600" dirty="0">
                <a:latin typeface="Times New Roman" panose="02020603050405020304" pitchFamily="18" charset="0"/>
                <a:cs typeface="Times New Roman" panose="02020603050405020304" pitchFamily="18" charset="0"/>
              </a:rPr>
              <a:t> :-</a:t>
            </a:r>
            <a:endParaRPr lang="en-IN" sz="3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C4202A6-BEE7-F46E-8C1E-1B79F9F9A1FF}"/>
              </a:ext>
            </a:extLst>
          </p:cNvPr>
          <p:cNvSpPr>
            <a:spLocks noGrp="1"/>
          </p:cNvSpPr>
          <p:nvPr>
            <p:ph type="body" sz="half" idx="2"/>
          </p:nvPr>
        </p:nvSpPr>
        <p:spPr>
          <a:xfrm>
            <a:off x="1154954" y="3543300"/>
            <a:ext cx="10183606" cy="3150108"/>
          </a:xfrm>
        </p:spPr>
        <p:txBody>
          <a:bodyPr>
            <a:normAutofit fontScale="47500" lnSpcReduction="20000"/>
          </a:bodyPr>
          <a:lstStyle/>
          <a:p>
            <a:pPr marL="686435" marR="0" indent="227965">
              <a:lnSpc>
                <a:spcPct val="110000"/>
              </a:lnSpc>
              <a:spcBef>
                <a:spcPts val="0"/>
              </a:spcBef>
              <a:spcAft>
                <a:spcPts val="0"/>
              </a:spcAft>
            </a:pPr>
            <a:r>
              <a:rPr lang="en-IN" sz="29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Roads are the arteries through which the economy pulses. By linking producers to markets, workers to jobs, students to school, and the sick to hospitals, roads are vital to any development agenda. Since 2002, the World Bank has constructed or rehabilitated more than 260,000 km of roads. It lends more for roads than for education, health, and social services combined. However, while roads bring economic and social benefits, they can also come with social costs such as pollution or deforestation. Roads are the main source which connects all the villages, cities, states and countries and enhances communication among all parts of the world. </a:t>
            </a:r>
            <a:endParaRPr lang="en-IN" sz="29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marL="686435" marR="0" indent="227965">
              <a:lnSpc>
                <a:spcPct val="110000"/>
              </a:lnSpc>
              <a:spcBef>
                <a:spcPts val="0"/>
              </a:spcBef>
              <a:spcAft>
                <a:spcPts val="110"/>
              </a:spcAft>
            </a:pPr>
            <a:r>
              <a:rPr lang="en-IN" sz="29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On an average, 2 billion people use roads for their transport everyday. The present roads which we are using are the age old ones and have not been developed in any aspect. Now a days, there is up gradation in all aspects of life but roads are the only ones which have not been modernised in our country. Roads have been technologically developed in all other parts of the world based on their requirements. Infrastructure has always mattered. The industrial revolution was not just the story of cotton mills and iron foundries. It was about canals, railways and roads. Big changes to the way people and goods could move around the country boosted growth and transformed the economy. The roads which are now in practice in all parts of the world are the ones which not only provide transport but also support us by providing power by using wind energy and solar energy. These roads are called SMART ROADS. </a:t>
            </a:r>
            <a:endParaRPr lang="en-IN" sz="29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787624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EAEEE-5271-81A4-E5CE-B0992D92A8E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3. </a:t>
            </a:r>
            <a:r>
              <a:rPr lang="en-US" u="sng" dirty="0">
                <a:latin typeface="Times New Roman" panose="02020603050405020304" pitchFamily="18" charset="0"/>
                <a:cs typeface="Times New Roman" panose="02020603050405020304" pitchFamily="18" charset="0"/>
              </a:rPr>
              <a:t>Project Profile</a:t>
            </a:r>
            <a:r>
              <a:rPr lang="en-US" dirty="0">
                <a:latin typeface="Times New Roman" panose="02020603050405020304" pitchFamily="18" charset="0"/>
                <a:cs typeface="Times New Roman" panose="02020603050405020304" pitchFamily="18" charset="0"/>
              </a:rPr>
              <a:t> :-</a:t>
            </a:r>
            <a:endParaRPr lang="en-IN" dirty="0"/>
          </a:p>
        </p:txBody>
      </p:sp>
      <p:sp>
        <p:nvSpPr>
          <p:cNvPr id="3" name="Content Placeholder 2">
            <a:extLst>
              <a:ext uri="{FF2B5EF4-FFF2-40B4-BE49-F238E27FC236}">
                <a16:creationId xmlns:a16="http://schemas.microsoft.com/office/drawing/2014/main" id="{67E46E33-6F3B-F29E-D4FE-76DA280E7FA1}"/>
              </a:ext>
            </a:extLst>
          </p:cNvPr>
          <p:cNvSpPr>
            <a:spLocks noGrp="1"/>
          </p:cNvSpPr>
          <p:nvPr>
            <p:ph sz="half" idx="1"/>
          </p:nvPr>
        </p:nvSpPr>
        <p:spPr/>
        <p:txBody>
          <a:bodyPr>
            <a:normAutofit fontScale="92500" lnSpcReduction="20000"/>
          </a:bodyPr>
          <a:lstStyle/>
          <a:p>
            <a:pPr marL="0" indent="0">
              <a:buNone/>
            </a:pPr>
            <a:r>
              <a:rPr lang="en-US" b="1" dirty="0">
                <a:solidFill>
                  <a:schemeClr val="tx1"/>
                </a:solidFill>
                <a:latin typeface="Times New Roman" panose="02020603050405020304" pitchFamily="18" charset="0"/>
                <a:cs typeface="Times New Roman" panose="02020603050405020304" pitchFamily="18" charset="0"/>
              </a:rPr>
              <a:t>3.1 </a:t>
            </a:r>
            <a:r>
              <a:rPr lang="en-US" b="1" u="sng" dirty="0">
                <a:solidFill>
                  <a:schemeClr val="tx1"/>
                </a:solidFill>
                <a:latin typeface="Times New Roman" panose="02020603050405020304" pitchFamily="18" charset="0"/>
                <a:cs typeface="Times New Roman" panose="02020603050405020304" pitchFamily="18" charset="0"/>
              </a:rPr>
              <a:t>Goals of Project</a:t>
            </a:r>
            <a:r>
              <a:rPr lang="en-US" b="1" dirty="0">
                <a:solidFill>
                  <a:schemeClr val="tx1"/>
                </a:solidFill>
                <a:latin typeface="Times New Roman" panose="02020603050405020304" pitchFamily="18" charset="0"/>
                <a:cs typeface="Times New Roman" panose="02020603050405020304" pitchFamily="18" charset="0"/>
              </a:rPr>
              <a:t> :-</a:t>
            </a:r>
            <a:endParaRPr lang="en-IN" b="1" dirty="0">
              <a:solidFill>
                <a:schemeClr val="tx1"/>
              </a:solidFill>
              <a:latin typeface="Times New Roman" panose="02020603050405020304" pitchFamily="18" charset="0"/>
              <a:cs typeface="Times New Roman" panose="02020603050405020304" pitchFamily="18" charset="0"/>
            </a:endParaRPr>
          </a:p>
          <a:p>
            <a:pPr marL="972185" marR="0" indent="-285750">
              <a:lnSpc>
                <a:spcPct val="110000"/>
              </a:lnSpc>
              <a:spcBef>
                <a:spcPts val="0"/>
              </a:spcBef>
              <a:spcAft>
                <a:spcPts val="0"/>
              </a:spcAft>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It aims to create a better smart road that offers a variety of smart features including smart traffic signals, smart street lights, smart garbage monitoring system and smart alert button.  </a:t>
            </a:r>
          </a:p>
          <a:p>
            <a:pPr marL="972185" marR="0" indent="-285750">
              <a:lnSpc>
                <a:spcPct val="110000"/>
              </a:lnSpc>
              <a:spcBef>
                <a:spcPts val="0"/>
              </a:spcBef>
              <a:spcAft>
                <a:spcPts val="0"/>
              </a:spcAft>
              <a:buFont typeface="Wingdings" panose="05000000000000000000" pitchFamily="2" charset="2"/>
              <a:buChar char="v"/>
            </a:pPr>
            <a:r>
              <a:rPr lang="en-IN" sz="1800" dirty="0">
                <a:solidFill>
                  <a:srgbClr val="000000"/>
                </a:solidFill>
                <a:latin typeface="Times New Roman" panose="02020603050405020304" pitchFamily="18" charset="0"/>
                <a:ea typeface="Arial" panose="020B0604020202020204" pitchFamily="34" charset="0"/>
                <a:cs typeface="Mangal" panose="02040503050203030202" pitchFamily="18" charset="0"/>
              </a:rPr>
              <a:t>E</a:t>
            </a: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lectricity can be save with the help of smart street lights. </a:t>
            </a:r>
          </a:p>
          <a:p>
            <a:pPr marL="972185" marR="0" indent="-285750">
              <a:lnSpc>
                <a:spcPct val="110000"/>
              </a:lnSpc>
              <a:spcBef>
                <a:spcPts val="0"/>
              </a:spcBef>
              <a:spcAft>
                <a:spcPts val="0"/>
              </a:spcAft>
              <a:buFont typeface="Wingdings" panose="05000000000000000000" pitchFamily="2" charset="2"/>
              <a:buChar char="v"/>
            </a:pPr>
            <a:r>
              <a:rPr lang="en-IN" sz="1800" dirty="0">
                <a:solidFill>
                  <a:srgbClr val="000000"/>
                </a:solidFill>
                <a:latin typeface="Times New Roman" panose="02020603050405020304" pitchFamily="18" charset="0"/>
                <a:ea typeface="Arial" panose="020B0604020202020204" pitchFamily="34" charset="0"/>
                <a:cs typeface="Mangal" panose="02040503050203030202" pitchFamily="18" charset="0"/>
              </a:rPr>
              <a:t>E</a:t>
            </a: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nvironments or quality time also can be save with the help of smart traffic signals. </a:t>
            </a:r>
          </a:p>
          <a:p>
            <a:pPr marL="972185" marR="0" indent="-285750">
              <a:lnSpc>
                <a:spcPct val="110000"/>
              </a:lnSpc>
              <a:spcBef>
                <a:spcPts val="0"/>
              </a:spcBef>
              <a:spcAft>
                <a:spcPts val="0"/>
              </a:spcAft>
              <a:buFont typeface="Wingdings" panose="05000000000000000000" pitchFamily="2" charset="2"/>
              <a:buChar char="v"/>
            </a:pPr>
            <a:r>
              <a:rPr lang="en-IN" sz="1800" dirty="0">
                <a:solidFill>
                  <a:srgbClr val="000000"/>
                </a:solidFill>
                <a:latin typeface="Times New Roman" panose="02020603050405020304" pitchFamily="18" charset="0"/>
                <a:ea typeface="Arial" panose="020B0604020202020204" pitchFamily="34" charset="0"/>
                <a:cs typeface="Mangal" panose="02040503050203030202" pitchFamily="18" charset="0"/>
              </a:rPr>
              <a:t>H</a:t>
            </a: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ealth and other social issues can be save or reduce with help of garbage monitoring system and smart alert button.</a:t>
            </a:r>
            <a:endParaRPr lang="en-IN" sz="18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marL="0" indent="0">
              <a:buNone/>
            </a:pPr>
            <a:endParaRPr lang="en-IN" dirty="0">
              <a:solidFill>
                <a:schemeClr val="tx1"/>
              </a:solidFill>
            </a:endParaRPr>
          </a:p>
        </p:txBody>
      </p:sp>
      <p:sp>
        <p:nvSpPr>
          <p:cNvPr id="4" name="Content Placeholder 3">
            <a:extLst>
              <a:ext uri="{FF2B5EF4-FFF2-40B4-BE49-F238E27FC236}">
                <a16:creationId xmlns:a16="http://schemas.microsoft.com/office/drawing/2014/main" id="{19C87DD4-E844-AAA8-034F-C73F1C7F6C27}"/>
              </a:ext>
            </a:extLst>
          </p:cNvPr>
          <p:cNvSpPr>
            <a:spLocks noGrp="1"/>
          </p:cNvSpPr>
          <p:nvPr>
            <p:ph sz="half" idx="2"/>
          </p:nvPr>
        </p:nvSpPr>
        <p:spPr/>
        <p:txBody>
          <a:bodyPr>
            <a:normAutofit fontScale="92500" lnSpcReduction="20000"/>
          </a:bodyPr>
          <a:lstStyle/>
          <a:p>
            <a:pPr marL="0" indent="0">
              <a:buNone/>
            </a:pPr>
            <a:r>
              <a:rPr lang="en-US" b="1" dirty="0">
                <a:solidFill>
                  <a:schemeClr val="tx1"/>
                </a:solidFill>
                <a:latin typeface="Times New Roman" panose="02020603050405020304" pitchFamily="18" charset="0"/>
                <a:cs typeface="Times New Roman" panose="02020603050405020304" pitchFamily="18" charset="0"/>
              </a:rPr>
              <a:t>3.2 </a:t>
            </a:r>
            <a:r>
              <a:rPr lang="en-US" b="1" u="sng" dirty="0">
                <a:solidFill>
                  <a:schemeClr val="tx1"/>
                </a:solidFill>
                <a:latin typeface="Times New Roman" panose="02020603050405020304" pitchFamily="18" charset="0"/>
                <a:cs typeface="Times New Roman" panose="02020603050405020304" pitchFamily="18" charset="0"/>
              </a:rPr>
              <a:t>Project Team</a:t>
            </a:r>
            <a:r>
              <a:rPr lang="en-US" b="1" dirty="0">
                <a:solidFill>
                  <a:schemeClr val="tx1"/>
                </a:solidFill>
                <a:latin typeface="Times New Roman" panose="02020603050405020304" pitchFamily="18" charset="0"/>
                <a:cs typeface="Times New Roman" panose="02020603050405020304" pitchFamily="18" charset="0"/>
              </a:rPr>
              <a:t> :-</a:t>
            </a:r>
            <a:endParaRPr lang="en-IN" b="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b="1" dirty="0">
                <a:solidFill>
                  <a:schemeClr val="tx1"/>
                </a:solidFill>
                <a:latin typeface="Times New Roman" panose="02020603050405020304" pitchFamily="18" charset="0"/>
                <a:cs typeface="Times New Roman" panose="02020603050405020304" pitchFamily="18" charset="0"/>
              </a:rPr>
              <a:t>Enrollment No: Name</a:t>
            </a:r>
          </a:p>
          <a:p>
            <a:pPr marL="342900"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20020406074 : Sneha Raval</a:t>
            </a:r>
          </a:p>
          <a:p>
            <a:pPr marL="342900"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20020406075 : Vishva Sakariya</a:t>
            </a:r>
          </a:p>
          <a:p>
            <a:pPr marL="342900"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20020406076 : Vraz Sakariya</a:t>
            </a:r>
          </a:p>
          <a:p>
            <a:pPr marL="342900"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20020406077 : Romil Sanghani</a:t>
            </a:r>
          </a:p>
          <a:p>
            <a:pPr marL="0" indent="0">
              <a:buNone/>
            </a:pPr>
            <a:endParaRPr lang="en-IN"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7852599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AAF49-2B90-B905-3ADE-B0EC17C2EDE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3.3 </a:t>
            </a:r>
            <a:r>
              <a:rPr lang="en-US" u="sng" dirty="0">
                <a:latin typeface="Times New Roman" panose="02020603050405020304" pitchFamily="18" charset="0"/>
                <a:cs typeface="Times New Roman" panose="02020603050405020304" pitchFamily="18" charset="0"/>
              </a:rPr>
              <a:t>Gantt Chart</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536BFFCB-9EDB-D7D1-4E0E-EC97FEC191E3}"/>
              </a:ext>
            </a:extLst>
          </p:cNvPr>
          <p:cNvGraphicFramePr>
            <a:graphicFrameLocks noGrp="1"/>
          </p:cNvGraphicFramePr>
          <p:nvPr>
            <p:ph idx="1"/>
            <p:extLst>
              <p:ext uri="{D42A27DB-BD31-4B8C-83A1-F6EECF244321}">
                <p14:modId xmlns:p14="http://schemas.microsoft.com/office/powerpoint/2010/main" val="3126786541"/>
              </p:ext>
            </p:extLst>
          </p:nvPr>
        </p:nvGraphicFramePr>
        <p:xfrm>
          <a:off x="1155700" y="2603500"/>
          <a:ext cx="8824913" cy="34163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3337973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C9DDE-54BE-2886-2117-2BA00F92EBEA}"/>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4. </a:t>
            </a:r>
            <a:r>
              <a:rPr lang="en-US" sz="3200" u="sng" dirty="0">
                <a:latin typeface="Times New Roman" panose="02020603050405020304" pitchFamily="18" charset="0"/>
                <a:cs typeface="Times New Roman" panose="02020603050405020304" pitchFamily="18" charset="0"/>
              </a:rPr>
              <a:t>System Analysis</a:t>
            </a:r>
            <a:r>
              <a:rPr lang="en-US" sz="3200" dirty="0">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5E8A56-1F85-7C4E-7519-D2003773B7F6}"/>
              </a:ext>
            </a:extLst>
          </p:cNvPr>
          <p:cNvSpPr>
            <a:spLocks noGrp="1"/>
          </p:cNvSpPr>
          <p:nvPr>
            <p:ph idx="1"/>
          </p:nvPr>
        </p:nvSpPr>
        <p:spPr/>
        <p:txBody>
          <a:bodyPr>
            <a:normAutofit fontScale="92500" lnSpcReduction="10000"/>
          </a:bodyPr>
          <a:lstStyle/>
          <a:p>
            <a:pPr>
              <a:buFont typeface="Wingdings" panose="05000000000000000000" pitchFamily="2" charset="2"/>
              <a:buChar char="v"/>
            </a:pPr>
            <a:r>
              <a:rPr lang="en-US" sz="2600" b="1" u="sng" dirty="0">
                <a:latin typeface="Times New Roman" panose="02020603050405020304" pitchFamily="18" charset="0"/>
                <a:cs typeface="Times New Roman" panose="02020603050405020304" pitchFamily="18" charset="0"/>
              </a:rPr>
              <a:t>Used Items</a:t>
            </a:r>
            <a:r>
              <a:rPr lang="en-US" sz="2600" b="1" dirty="0">
                <a:latin typeface="Times New Roman" panose="02020603050405020304" pitchFamily="18" charset="0"/>
                <a:cs typeface="Times New Roman" panose="02020603050405020304" pitchFamily="18" charset="0"/>
              </a:rPr>
              <a:t> :-</a:t>
            </a:r>
          </a:p>
          <a:p>
            <a:pPr marL="457200" indent="-457200">
              <a:buFont typeface="+mj-lt"/>
              <a:buAutoNum type="arabicPeriod"/>
            </a:pPr>
            <a:r>
              <a:rPr lang="en-IN" sz="15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Ultra sonic sensor</a:t>
            </a:r>
          </a:p>
          <a:p>
            <a:pPr marL="457200" indent="-457200">
              <a:buFont typeface="+mj-lt"/>
              <a:buAutoNum type="arabicPeriod"/>
            </a:pPr>
            <a:r>
              <a:rPr lang="en-IN" sz="15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Wires</a:t>
            </a:r>
          </a:p>
          <a:p>
            <a:pPr marL="457200" indent="-457200">
              <a:buFont typeface="+mj-lt"/>
              <a:buAutoNum type="arabicPeriod"/>
            </a:pPr>
            <a:r>
              <a:rPr lang="en-IN" sz="15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Male to female, Male to male, Female to female </a:t>
            </a:r>
          </a:p>
          <a:p>
            <a:pPr marL="457200" indent="-457200">
              <a:buFont typeface="+mj-lt"/>
              <a:buAutoNum type="arabicPeriod"/>
            </a:pPr>
            <a:r>
              <a:rPr lang="en-IN" sz="15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LED lights </a:t>
            </a:r>
          </a:p>
          <a:p>
            <a:pPr marL="457200" indent="-457200">
              <a:buFont typeface="+mj-lt"/>
              <a:buAutoNum type="arabicPeriod"/>
            </a:pPr>
            <a:r>
              <a:rPr lang="en-IN" sz="15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Battery</a:t>
            </a:r>
          </a:p>
          <a:p>
            <a:pPr marL="457200" indent="-457200">
              <a:buFont typeface="+mj-lt"/>
              <a:buAutoNum type="arabicPeriod"/>
            </a:pPr>
            <a:r>
              <a:rPr lang="en-IN" sz="15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Breadboard </a:t>
            </a:r>
          </a:p>
          <a:p>
            <a:pPr marL="457200" indent="-457200">
              <a:buFont typeface="+mj-lt"/>
              <a:buAutoNum type="arabicPeriod"/>
            </a:pPr>
            <a:r>
              <a:rPr lang="en-IN" sz="15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Arduino UNO </a:t>
            </a:r>
          </a:p>
          <a:p>
            <a:pPr marL="457200" indent="-457200">
              <a:buFont typeface="+mj-lt"/>
              <a:buAutoNum type="arabicPeriod"/>
            </a:pPr>
            <a:r>
              <a:rPr lang="en-IN" sz="15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Servo motor &amp; Motor</a:t>
            </a:r>
          </a:p>
          <a:p>
            <a:pPr marL="457200" indent="-457200">
              <a:buFont typeface="+mj-lt"/>
              <a:buAutoNum type="arabicPeriod"/>
            </a:pPr>
            <a:r>
              <a:rPr lang="en-IN" sz="15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Registers </a:t>
            </a:r>
            <a:endParaRPr lang="en-IN" sz="1500" dirty="0">
              <a:solidFill>
                <a:srgbClr val="000000"/>
              </a:solidFill>
              <a:latin typeface="Times New Roman" panose="02020603050405020304" pitchFamily="18" charset="0"/>
              <a:ea typeface="Arial" panose="020B0604020202020204" pitchFamily="34" charset="0"/>
              <a:cs typeface="Times New Roman" panose="02020603050405020304" pitchFamily="18" charset="0"/>
            </a:endParaRPr>
          </a:p>
          <a:p>
            <a:pPr marL="457200" indent="-457200">
              <a:buFont typeface="+mj-lt"/>
              <a:buAutoNum type="arabicPeriod"/>
            </a:pPr>
            <a:r>
              <a:rPr lang="en-IN" sz="15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Piezo </a:t>
            </a:r>
          </a:p>
          <a:p>
            <a:pPr marL="457200" indent="-457200">
              <a:buFont typeface="+mj-lt"/>
              <a:buAutoNum type="arabicPeriod"/>
            </a:pPr>
            <a:r>
              <a:rPr lang="en-IN" sz="15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Buttons &amp; Switches</a:t>
            </a:r>
          </a:p>
          <a:p>
            <a:pPr marL="457200" indent="-457200">
              <a:buFont typeface="+mj-lt"/>
              <a:buAutoNum type="arabicPeriod"/>
            </a:pPr>
            <a:r>
              <a:rPr lang="en-IN" sz="15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Stationary items : Cardboard sheet, Thermocol sheet, Straws, Glue, Matchbox, Colour etc…</a:t>
            </a:r>
          </a:p>
          <a:p>
            <a:endParaRPr lang="en-IN"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17ADAC87-CE05-C211-3917-29BB9BBEB572}"/>
              </a:ext>
            </a:extLst>
          </p:cNvPr>
          <p:cNvSpPr>
            <a:spLocks noGrp="1"/>
          </p:cNvSpPr>
          <p:nvPr>
            <p:ph type="body" sz="half" idx="2"/>
          </p:nvPr>
        </p:nvSpPr>
        <p:spPr>
          <a:xfrm>
            <a:off x="1220788" y="3124201"/>
            <a:ext cx="2793158" cy="2895599"/>
          </a:xfrm>
        </p:spPr>
        <p:txBody>
          <a:bodyPr>
            <a:normAutofit/>
          </a:bodyPr>
          <a:lstStyle/>
          <a:p>
            <a:r>
              <a:rPr lang="en-US" sz="1600" b="1" dirty="0">
                <a:solidFill>
                  <a:schemeClr val="bg1"/>
                </a:solidFill>
                <a:latin typeface="Times New Roman" panose="02020603050405020304" pitchFamily="18" charset="0"/>
                <a:cs typeface="Times New Roman" panose="02020603050405020304" pitchFamily="18" charset="0"/>
              </a:rPr>
              <a:t>4.1 </a:t>
            </a:r>
            <a:r>
              <a:rPr lang="en-US" sz="1600" b="1" u="sng" dirty="0">
                <a:solidFill>
                  <a:schemeClr val="bg1"/>
                </a:solidFill>
                <a:latin typeface="Times New Roman" panose="02020603050405020304" pitchFamily="18" charset="0"/>
                <a:cs typeface="Times New Roman" panose="02020603050405020304" pitchFamily="18" charset="0"/>
              </a:rPr>
              <a:t>Requirement Analysis</a:t>
            </a:r>
            <a:r>
              <a:rPr lang="en-US" sz="1600" b="1" dirty="0">
                <a:solidFill>
                  <a:schemeClr val="bg1"/>
                </a:solidFill>
                <a:latin typeface="Times New Roman" panose="02020603050405020304" pitchFamily="18" charset="0"/>
                <a:cs typeface="Times New Roman" panose="02020603050405020304" pitchFamily="18" charset="0"/>
              </a:rPr>
              <a:t> :-</a:t>
            </a:r>
          </a:p>
          <a:p>
            <a:r>
              <a:rPr lang="en-IN" sz="1600" dirty="0">
                <a:solidFill>
                  <a:schemeClr val="bg1"/>
                </a:solidFill>
                <a:effectLst/>
                <a:latin typeface="Times New Roman" panose="02020603050405020304" pitchFamily="18" charset="0"/>
                <a:ea typeface="Arial" panose="020B0604020202020204" pitchFamily="34" charset="0"/>
                <a:cs typeface="Mangal" panose="02040503050203030202" pitchFamily="18" charset="0"/>
              </a:rPr>
              <a:t>This project is mostly required in mega cities because the number of vehicles and population increasing day to day that create a traffic problem, air or noise pollution, and other social and health issues as well.</a:t>
            </a:r>
            <a:endParaRPr lang="en-IN" sz="1600" dirty="0">
              <a:solidFill>
                <a:schemeClr val="bg1"/>
              </a:solidFill>
              <a:effectLst/>
              <a:latin typeface="Arial" panose="020B0604020202020204" pitchFamily="34" charset="0"/>
              <a:ea typeface="Arial" panose="020B0604020202020204" pitchFamily="34" charset="0"/>
              <a:cs typeface="Mangal" panose="02040503050203030202" pitchFamily="18" charset="0"/>
            </a:endParaRPr>
          </a:p>
          <a:p>
            <a:endParaRPr lang="en-IN"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35000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47DA4-C3E6-EA7C-6D5B-C09E4FDFACF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5. </a:t>
            </a:r>
            <a:r>
              <a:rPr lang="en-US" u="sng" dirty="0">
                <a:latin typeface="Times New Roman" panose="02020603050405020304" pitchFamily="18" charset="0"/>
                <a:cs typeface="Times New Roman" panose="02020603050405020304" pitchFamily="18" charset="0"/>
              </a:rPr>
              <a:t>System Design</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B3CE5D-D209-7E0A-F061-407A3B80A26D}"/>
              </a:ext>
            </a:extLst>
          </p:cNvPr>
          <p:cNvSpPr>
            <a:spLocks noGrp="1"/>
          </p:cNvSpPr>
          <p:nvPr>
            <p:ph idx="1"/>
          </p:nvPr>
        </p:nvSpPr>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5.1 </a:t>
            </a:r>
            <a:r>
              <a:rPr lang="en-US" sz="2000" b="1" u="sng" dirty="0">
                <a:latin typeface="Times New Roman" panose="02020603050405020304" pitchFamily="18" charset="0"/>
                <a:cs typeface="Times New Roman" panose="02020603050405020304" pitchFamily="18" charset="0"/>
              </a:rPr>
              <a:t>Architecture Diagram</a:t>
            </a:r>
            <a:r>
              <a:rPr lang="en-US" sz="2000" b="1" dirty="0">
                <a:latin typeface="Times New Roman" panose="02020603050405020304" pitchFamily="18" charset="0"/>
                <a:cs typeface="Times New Roman" panose="02020603050405020304" pitchFamily="18" charset="0"/>
              </a:rPr>
              <a:t> :-</a:t>
            </a:r>
          </a:p>
          <a:p>
            <a:pPr marL="0" indent="0">
              <a:buNone/>
            </a:pPr>
            <a:r>
              <a:rPr lang="en-IN" sz="1800" dirty="0">
                <a:solidFill>
                  <a:srgbClr val="000000"/>
                </a:solidFill>
                <a:effectLst/>
                <a:latin typeface="Times New Roman" panose="02020603050405020304" pitchFamily="18" charset="0"/>
                <a:ea typeface="Arial" panose="020B0604020202020204" pitchFamily="34" charset="0"/>
              </a:rPr>
              <a:t>This Design is to measure road Architecture</a:t>
            </a:r>
          </a:p>
          <a:p>
            <a:pPr marL="0" indent="0">
              <a:buNone/>
            </a:pPr>
            <a:endParaRPr lang="en-IN" sz="1800" dirty="0">
              <a:solidFill>
                <a:srgbClr val="000000"/>
              </a:solidFill>
              <a:effectLst/>
              <a:latin typeface="Times New Roman" panose="02020603050405020304" pitchFamily="18" charset="0"/>
              <a:ea typeface="Arial" panose="020B0604020202020204" pitchFamily="34"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a:t>
            </a:r>
            <a:endParaRPr lang="en-IN" sz="20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8250F44-E927-3D6B-1ED0-A61183D581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7880" y="3429000"/>
            <a:ext cx="6808158" cy="320707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26045559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1A038-BF08-3F47-7C10-6C4941D61CA4}"/>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5.2 </a:t>
            </a:r>
            <a:r>
              <a:rPr lang="en-US" sz="3200" u="sng" dirty="0">
                <a:latin typeface="Times New Roman" panose="02020603050405020304" pitchFamily="18" charset="0"/>
                <a:cs typeface="Times New Roman" panose="02020603050405020304" pitchFamily="18" charset="0"/>
              </a:rPr>
              <a:t>Flow Chart</a:t>
            </a:r>
            <a:r>
              <a:rPr lang="en-US" sz="3200" dirty="0">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2F74315-F790-19D1-C112-1D549BD1CE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62487" y="2346570"/>
            <a:ext cx="3665315" cy="4312135"/>
          </a:xfrm>
          <a:ln>
            <a:solidFill>
              <a:schemeClr val="tx1"/>
            </a:solidFill>
          </a:ln>
        </p:spPr>
      </p:pic>
      <p:pic>
        <p:nvPicPr>
          <p:cNvPr id="4" name="Picture 3">
            <a:extLst>
              <a:ext uri="{FF2B5EF4-FFF2-40B4-BE49-F238E27FC236}">
                <a16:creationId xmlns:a16="http://schemas.microsoft.com/office/drawing/2014/main" id="{4A407F84-E48F-3E3E-A900-4C75C8600C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066" y="2324448"/>
            <a:ext cx="3090370" cy="4334257"/>
          </a:xfrm>
          <a:prstGeom prst="rect">
            <a:avLst/>
          </a:prstGeom>
          <a:ln>
            <a:solidFill>
              <a:schemeClr val="tx1"/>
            </a:solidFill>
          </a:ln>
        </p:spPr>
      </p:pic>
      <p:pic>
        <p:nvPicPr>
          <p:cNvPr id="6" name="Picture 5">
            <a:extLst>
              <a:ext uri="{FF2B5EF4-FFF2-40B4-BE49-F238E27FC236}">
                <a16:creationId xmlns:a16="http://schemas.microsoft.com/office/drawing/2014/main" id="{A74BDF0B-0441-1D0A-2948-BB6BE20543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4603" y="2346570"/>
            <a:ext cx="3665315" cy="4312135"/>
          </a:xfrm>
          <a:prstGeom prst="rect">
            <a:avLst/>
          </a:prstGeom>
          <a:ln>
            <a:solidFill>
              <a:schemeClr val="tx1"/>
            </a:solidFill>
          </a:ln>
        </p:spPr>
      </p:pic>
    </p:spTree>
    <p:extLst>
      <p:ext uri="{BB962C8B-B14F-4D97-AF65-F5344CB8AC3E}">
        <p14:creationId xmlns:p14="http://schemas.microsoft.com/office/powerpoint/2010/main" val="328766863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D0C5C-CC9E-206C-2E62-7C03193D328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5.3 </a:t>
            </a:r>
            <a:r>
              <a:rPr lang="en-US" u="sng" dirty="0">
                <a:latin typeface="Times New Roman" panose="02020603050405020304" pitchFamily="18" charset="0"/>
                <a:cs typeface="Times New Roman" panose="02020603050405020304" pitchFamily="18" charset="0"/>
              </a:rPr>
              <a:t>Blue Print</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82C27B0-C503-C4A9-AB24-FAABEF690D42}"/>
              </a:ext>
            </a:extLst>
          </p:cNvPr>
          <p:cNvSpPr>
            <a:spLocks noGrp="1"/>
          </p:cNvSpPr>
          <p:nvPr>
            <p:ph type="body" idx="1"/>
          </p:nvPr>
        </p:nvSpPr>
        <p:spPr>
          <a:xfrm>
            <a:off x="603857" y="2007243"/>
            <a:ext cx="4825157" cy="576262"/>
          </a:xfrm>
        </p:spPr>
        <p:txBody>
          <a:bodyPr/>
          <a:lstStyle/>
          <a:p>
            <a:r>
              <a:rPr lang="en-US" sz="1800" b="1" dirty="0">
                <a:solidFill>
                  <a:schemeClr val="tx1"/>
                </a:solidFill>
                <a:latin typeface="Times New Roman" panose="02020603050405020304" pitchFamily="18" charset="0"/>
                <a:cs typeface="Times New Roman" panose="02020603050405020304" pitchFamily="18" charset="0"/>
              </a:rPr>
              <a:t>3D Design (Top View)</a:t>
            </a:r>
            <a:endParaRPr lang="en-IN" sz="1800" b="1"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F5D97D81-DEAF-9A63-8622-33C79DCE725C}"/>
              </a:ext>
            </a:extLst>
          </p:cNvPr>
          <p:cNvSpPr>
            <a:spLocks noGrp="1"/>
          </p:cNvSpPr>
          <p:nvPr>
            <p:ph type="body" sz="quarter" idx="3"/>
          </p:nvPr>
        </p:nvSpPr>
        <p:spPr>
          <a:xfrm>
            <a:off x="603857" y="2557299"/>
            <a:ext cx="5240923" cy="704193"/>
          </a:xfrm>
        </p:spPr>
        <p:txBody>
          <a:bodyPr/>
          <a:lstStyle/>
          <a:p>
            <a:r>
              <a:rPr lang="en-US" sz="1400" dirty="0">
                <a:solidFill>
                  <a:schemeClr val="tx1"/>
                </a:solidFill>
                <a:latin typeface="Times New Roman" panose="02020603050405020304" pitchFamily="18" charset="0"/>
                <a:cs typeface="Times New Roman" panose="02020603050405020304" pitchFamily="18" charset="0"/>
              </a:rPr>
              <a:t>With the help of this 3D model we can get every small details of Our Project. The Model is very simple and informative. So, anyone can understand easily. </a:t>
            </a:r>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0A6DD8E4-53F8-5650-2C0A-3E100E573C01}"/>
              </a:ext>
            </a:extLst>
          </p:cNvPr>
          <p:cNvPicPr>
            <a:picLocks noGrp="1" noChangeAspect="1"/>
          </p:cNvPicPr>
          <p:nvPr>
            <p:ph sz="quarter" idx="4"/>
          </p:nvPr>
        </p:nvPicPr>
        <p:blipFill rotWithShape="1">
          <a:blip r:embed="rId2">
            <a:extLst>
              <a:ext uri="{28A0092B-C50C-407E-A947-70E740481C1C}">
                <a14:useLocalDpi xmlns:a14="http://schemas.microsoft.com/office/drawing/2010/main" val="0"/>
              </a:ext>
            </a:extLst>
          </a:blip>
          <a:srcRect t="13669" r="4829" b="42771"/>
          <a:stretch/>
        </p:blipFill>
        <p:spPr>
          <a:xfrm>
            <a:off x="6386260" y="2535972"/>
            <a:ext cx="4425175" cy="1315379"/>
          </a:xfrm>
          <a:prstGeom prst="rect">
            <a:avLst/>
          </a:prstGeom>
          <a:ln>
            <a:noFill/>
          </a:ln>
          <a:effectLst>
            <a:outerShdw blurRad="190500" algn="tl" rotWithShape="0">
              <a:srgbClr val="000000">
                <a:alpha val="70000"/>
              </a:srgbClr>
            </a:outerShdw>
          </a:effectLst>
        </p:spPr>
      </p:pic>
      <p:pic>
        <p:nvPicPr>
          <p:cNvPr id="14" name="Content Placeholder 13">
            <a:extLst>
              <a:ext uri="{FF2B5EF4-FFF2-40B4-BE49-F238E27FC236}">
                <a16:creationId xmlns:a16="http://schemas.microsoft.com/office/drawing/2014/main" id="{4E9A68A8-FCA9-A3BA-B877-561AC3489CC8}"/>
              </a:ext>
            </a:extLst>
          </p:cNvPr>
          <p:cNvPicPr>
            <a:picLocks noGrp="1" noChangeAspect="1"/>
          </p:cNvPicPr>
          <p:nvPr>
            <p:ph sz="half" idx="2"/>
          </p:nvPr>
        </p:nvPicPr>
        <p:blipFill rotWithShape="1">
          <a:blip r:embed="rId3">
            <a:extLst>
              <a:ext uri="{28A0092B-C50C-407E-A947-70E740481C1C}">
                <a14:useLocalDpi xmlns:a14="http://schemas.microsoft.com/office/drawing/2010/main" val="0"/>
              </a:ext>
            </a:extLst>
          </a:blip>
          <a:srcRect l="4392" t="3252" r="8651" b="16887"/>
          <a:stretch/>
        </p:blipFill>
        <p:spPr>
          <a:xfrm>
            <a:off x="603857" y="3361764"/>
            <a:ext cx="5201885" cy="2834159"/>
          </a:xfrm>
          <a:prstGeom prst="rect">
            <a:avLst/>
          </a:prstGeom>
          <a:ln>
            <a:noFill/>
          </a:ln>
          <a:effectLst>
            <a:outerShdw blurRad="190500" algn="tl" rotWithShape="0">
              <a:srgbClr val="000000">
                <a:alpha val="70000"/>
              </a:srgbClr>
            </a:outerShdw>
          </a:effectLst>
        </p:spPr>
      </p:pic>
      <p:pic>
        <p:nvPicPr>
          <p:cNvPr id="15" name="Picture 14">
            <a:extLst>
              <a:ext uri="{FF2B5EF4-FFF2-40B4-BE49-F238E27FC236}">
                <a16:creationId xmlns:a16="http://schemas.microsoft.com/office/drawing/2014/main" id="{2689966D-D156-29FE-0200-652CE202C652}"/>
              </a:ext>
            </a:extLst>
          </p:cNvPr>
          <p:cNvPicPr>
            <a:picLocks noChangeAspect="1"/>
          </p:cNvPicPr>
          <p:nvPr/>
        </p:nvPicPr>
        <p:blipFill>
          <a:blip r:embed="rId4"/>
          <a:stretch>
            <a:fillRect/>
          </a:stretch>
        </p:blipFill>
        <p:spPr>
          <a:xfrm>
            <a:off x="6221506" y="3763865"/>
            <a:ext cx="4975412" cy="305309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39961165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39735-A032-912A-6897-C31813C52D5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6. </a:t>
            </a:r>
            <a:r>
              <a:rPr lang="en-US" u="sng" dirty="0">
                <a:latin typeface="Times New Roman" panose="02020603050405020304" pitchFamily="18" charset="0"/>
                <a:cs typeface="Times New Roman" panose="02020603050405020304" pitchFamily="18" charset="0"/>
              </a:rPr>
              <a:t>Implementation</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04C6D4A-023C-65E5-3BA4-EB5A8CFB72A2}"/>
              </a:ext>
            </a:extLst>
          </p:cNvPr>
          <p:cNvSpPr>
            <a:spLocks noGrp="1"/>
          </p:cNvSpPr>
          <p:nvPr>
            <p:ph type="body" sz="half" idx="2"/>
          </p:nvPr>
        </p:nvSpPr>
        <p:spPr/>
        <p:txBody>
          <a:bodyPr/>
          <a:lstStyle/>
          <a:p>
            <a:pPr marL="342900" marR="0" lvl="0" indent="-342900">
              <a:lnSpc>
                <a:spcPct val="110000"/>
              </a:lnSpc>
              <a:spcBef>
                <a:spcPts val="0"/>
              </a:spcBef>
              <a:spcAft>
                <a:spcPts val="0"/>
              </a:spcAft>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To increase the road usability.</a:t>
            </a:r>
            <a:endParaRPr lang="en-IN" sz="18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marL="342900" marR="0" lvl="0" indent="-342900">
              <a:lnSpc>
                <a:spcPct val="110000"/>
              </a:lnSpc>
              <a:spcBef>
                <a:spcPts val="0"/>
              </a:spcBef>
              <a:spcAft>
                <a:spcPts val="0"/>
              </a:spcAft>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Improvement of lighting in road which saves a lot of electricity and money.</a:t>
            </a:r>
            <a:endParaRPr lang="en-IN" sz="18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marL="342900" marR="0" lvl="0" indent="-342900">
              <a:lnSpc>
                <a:spcPct val="110000"/>
              </a:lnSpc>
              <a:spcBef>
                <a:spcPts val="0"/>
              </a:spcBef>
              <a:spcAft>
                <a:spcPts val="0"/>
              </a:spcAft>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Use of digital media to transfer information.</a:t>
            </a:r>
            <a:endParaRPr lang="en-IN" sz="18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marL="342900" marR="0" lvl="0" indent="-342900">
              <a:lnSpc>
                <a:spcPct val="110000"/>
              </a:lnSpc>
              <a:spcBef>
                <a:spcPts val="0"/>
              </a:spcBef>
              <a:spcAft>
                <a:spcPts val="0"/>
              </a:spcAft>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Follow Smart Traffic Light signals.</a:t>
            </a:r>
            <a:endParaRPr lang="en-IN" sz="18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marL="342900" marR="0" lvl="0" indent="-342900">
              <a:lnSpc>
                <a:spcPct val="110000"/>
              </a:lnSpc>
              <a:spcBef>
                <a:spcPts val="0"/>
              </a:spcBef>
              <a:spcAft>
                <a:spcPts val="0"/>
              </a:spcAft>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Use Smart Waste Management System for Pollution Control or Clean Roads.</a:t>
            </a:r>
            <a:endParaRPr lang="en-IN" sz="18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marL="342900" marR="0" lvl="0" indent="-342900">
              <a:lnSpc>
                <a:spcPct val="110000"/>
              </a:lnSpc>
              <a:spcBef>
                <a:spcPts val="0"/>
              </a:spcBef>
              <a:spcAft>
                <a:spcPts val="110"/>
              </a:spcAft>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Use All Smart Road Technologies.</a:t>
            </a:r>
            <a:endParaRPr lang="en-IN" sz="18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747676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28A57-7FC3-F435-FAFC-10D45432F012}"/>
              </a:ext>
            </a:extLst>
          </p:cNvPr>
          <p:cNvSpPr>
            <a:spLocks noGrp="1"/>
          </p:cNvSpPr>
          <p:nvPr>
            <p:ph type="title"/>
          </p:nvPr>
        </p:nvSpPr>
        <p:spPr/>
        <p:txBody>
          <a:bodyPr/>
          <a:lstStyle/>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What are the Problems Faced in Road Transport in India?</a:t>
            </a:r>
            <a:endParaRPr lang="en-IN" sz="2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3FD2EE8-2AE5-98CE-51D8-F92E78581AF6}"/>
              </a:ext>
            </a:extLst>
          </p:cNvPr>
          <p:cNvSpPr>
            <a:spLocks noGrp="1"/>
          </p:cNvSpPr>
          <p:nvPr>
            <p:ph type="body" sz="half" idx="2"/>
          </p:nvPr>
        </p:nvSpPr>
        <p:spPr/>
        <p:txBody>
          <a:bodyPr/>
          <a:lstStyle/>
          <a:p>
            <a:pPr marL="285750" indent="-28575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Most of the Indian roads are unsurfaced (42.65%) and are not suitable for use of vehicular traffic.</a:t>
            </a:r>
          </a:p>
          <a:p>
            <a:pPr marL="285750" indent="-28575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One major problem on the Indian road is the mixing of traffic.</a:t>
            </a:r>
          </a:p>
          <a:p>
            <a:pPr marL="285750" indent="-28575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There are multiple check-posts, toll tax and octoroon duties collection points on the roads.</a:t>
            </a:r>
          </a:p>
          <a:p>
            <a:pPr marL="285750" indent="-28575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There is very attention on road safety and traffic laws are willfully violated.</a:t>
            </a:r>
          </a:p>
          <a:p>
            <a:pPr marL="285750" indent="-28575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There has been no stability in policy relating to highway.</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026198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E042C-C5FB-689E-FF47-BA7DCEA7381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7. </a:t>
            </a:r>
            <a:r>
              <a:rPr lang="en-US" u="sng" dirty="0">
                <a:latin typeface="Times New Roman" panose="02020603050405020304" pitchFamily="18" charset="0"/>
                <a:cs typeface="Times New Roman" panose="02020603050405020304" pitchFamily="18" charset="0"/>
              </a:rPr>
              <a:t>Benefits &amp; Challenges</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E3A1D-0CB1-1D38-5064-3F768475A2AA}"/>
              </a:ext>
            </a:extLst>
          </p:cNvPr>
          <p:cNvSpPr>
            <a:spLocks noGrp="1"/>
          </p:cNvSpPr>
          <p:nvPr>
            <p:ph sz="half" idx="1"/>
          </p:nvPr>
        </p:nvSpPr>
        <p:spPr/>
        <p:txBody>
          <a:bodyPr>
            <a:normAutofit fontScale="92500" lnSpcReduction="20000"/>
          </a:bodyPr>
          <a:lstStyle/>
          <a:p>
            <a:pPr>
              <a:buFont typeface="Wingdings" panose="05000000000000000000" pitchFamily="2" charset="2"/>
              <a:buChar char="q"/>
            </a:pPr>
            <a:r>
              <a:rPr lang="en-US" sz="2000" b="1" u="sng" dirty="0">
                <a:solidFill>
                  <a:schemeClr val="tx1"/>
                </a:solidFill>
                <a:latin typeface="Times New Roman" panose="02020603050405020304" pitchFamily="18" charset="0"/>
                <a:cs typeface="Times New Roman" panose="02020603050405020304" pitchFamily="18" charset="0"/>
              </a:rPr>
              <a:t>Benefits</a:t>
            </a:r>
            <a:r>
              <a:rPr lang="en-US" sz="2000" b="1" dirty="0">
                <a:solidFill>
                  <a:schemeClr val="tx1"/>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r>
              <a:rPr lang="en-IN" sz="1600" dirty="0">
                <a:solidFill>
                  <a:srgbClr val="000000"/>
                </a:solidFill>
                <a:effectLst/>
                <a:latin typeface="Times New Roman" panose="02020603050405020304" pitchFamily="18" charset="0"/>
                <a:ea typeface="Arial" panose="020B0604020202020204" pitchFamily="34" charset="0"/>
              </a:rPr>
              <a:t>Interactive lights: </a:t>
            </a:r>
            <a:r>
              <a:rPr lang="en-IN" sz="1500" dirty="0">
                <a:solidFill>
                  <a:srgbClr val="000000"/>
                </a:solidFill>
                <a:effectLst/>
                <a:latin typeface="Times New Roman" panose="02020603050405020304" pitchFamily="18" charset="0"/>
                <a:ea typeface="Arial" panose="020B0604020202020204" pitchFamily="34" charset="0"/>
              </a:rPr>
              <a:t>These lights are so helpful that they are 10 times brighter than the lights which we are using now. </a:t>
            </a:r>
          </a:p>
          <a:p>
            <a:pPr marR="0" lvl="0">
              <a:lnSpc>
                <a:spcPct val="110000"/>
              </a:lnSpc>
              <a:spcBef>
                <a:spcPts val="0"/>
              </a:spcBef>
              <a:spcAft>
                <a:spcPts val="0"/>
              </a:spcAft>
              <a:buFont typeface="Wingdings" panose="05000000000000000000" pitchFamily="2" charset="2"/>
              <a:buChar char="v"/>
            </a:pPr>
            <a:r>
              <a:rPr lang="en-IN" sz="16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Huge reduction of Energy and maintenance cost</a:t>
            </a:r>
            <a:endParaRPr lang="en-IN" sz="16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marR="0" lvl="0">
              <a:lnSpc>
                <a:spcPct val="110000"/>
              </a:lnSpc>
              <a:spcBef>
                <a:spcPts val="0"/>
              </a:spcBef>
              <a:spcAft>
                <a:spcPts val="110"/>
              </a:spcAft>
              <a:buFont typeface="Wingdings" panose="05000000000000000000" pitchFamily="2" charset="2"/>
              <a:buChar char="v"/>
            </a:pPr>
            <a:r>
              <a:rPr lang="en-IN" sz="16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Increased public Safety from improved lighting</a:t>
            </a:r>
            <a:endParaRPr lang="en-IN" sz="16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a:buFont typeface="Wingdings" panose="05000000000000000000" pitchFamily="2" charset="2"/>
              <a:buChar char="v"/>
            </a:pPr>
            <a:r>
              <a:rPr lang="en-IN" sz="1600" dirty="0">
                <a:solidFill>
                  <a:srgbClr val="000000"/>
                </a:solidFill>
                <a:effectLst/>
                <a:latin typeface="Times New Roman" panose="02020603050405020304" pitchFamily="18" charset="0"/>
                <a:ea typeface="Arial" panose="020B0604020202020204" pitchFamily="34" charset="0"/>
              </a:rPr>
              <a:t>Traffic Light timing in real-time</a:t>
            </a:r>
          </a:p>
          <a:p>
            <a:pPr>
              <a:buFont typeface="Wingdings" panose="05000000000000000000" pitchFamily="2" charset="2"/>
              <a:buChar char="v"/>
            </a:pPr>
            <a:r>
              <a:rPr lang="en-IN" sz="1600" dirty="0">
                <a:solidFill>
                  <a:srgbClr val="000000"/>
                </a:solidFill>
                <a:effectLst/>
                <a:latin typeface="Times New Roman" panose="02020603050405020304" pitchFamily="18" charset="0"/>
                <a:ea typeface="Arial" panose="020B0604020202020204" pitchFamily="34" charset="0"/>
              </a:rPr>
              <a:t>Safety from Road Accidents</a:t>
            </a:r>
          </a:p>
          <a:p>
            <a:pPr>
              <a:buFont typeface="Wingdings" panose="05000000000000000000" pitchFamily="2" charset="2"/>
              <a:buChar char="v"/>
            </a:pPr>
            <a:r>
              <a:rPr lang="en-IN" sz="1600" dirty="0">
                <a:solidFill>
                  <a:srgbClr val="000000"/>
                </a:solidFill>
                <a:effectLst/>
                <a:latin typeface="Times New Roman" panose="02020603050405020304" pitchFamily="18" charset="0"/>
                <a:ea typeface="Arial" panose="020B0604020202020204" pitchFamily="34" charset="0"/>
              </a:rPr>
              <a:t>Reduction in pollution</a:t>
            </a:r>
            <a:endParaRPr lang="en-IN" sz="1600" dirty="0">
              <a:solidFill>
                <a:srgbClr val="000000"/>
              </a:solidFill>
              <a:latin typeface="Times New Roman" panose="02020603050405020304" pitchFamily="18" charset="0"/>
              <a:ea typeface="Arial" panose="020B0604020202020204" pitchFamily="34" charset="0"/>
            </a:endParaRPr>
          </a:p>
          <a:p>
            <a:pPr>
              <a:buFont typeface="Wingdings" panose="05000000000000000000" pitchFamily="2" charset="2"/>
              <a:buChar char="v"/>
            </a:pPr>
            <a:r>
              <a:rPr lang="en-IN" sz="1600" dirty="0">
                <a:solidFill>
                  <a:srgbClr val="000000"/>
                </a:solidFill>
                <a:effectLst/>
                <a:latin typeface="Times New Roman" panose="02020603050405020304" pitchFamily="18" charset="0"/>
                <a:ea typeface="Arial" panose="020B0604020202020204" pitchFamily="34" charset="0"/>
              </a:rPr>
              <a:t>Smart Waste Management System: </a:t>
            </a:r>
            <a:r>
              <a:rPr lang="en-IN" sz="1500" dirty="0">
                <a:solidFill>
                  <a:srgbClr val="000000"/>
                </a:solidFill>
                <a:effectLst/>
                <a:latin typeface="Times New Roman" panose="02020603050405020304" pitchFamily="18" charset="0"/>
                <a:ea typeface="Arial" panose="020B0604020202020204" pitchFamily="34" charset="0"/>
              </a:rPr>
              <a:t>It can be useful for reduce man effort, pollution, fuelling or many more. Waste disposal truck driver wants to visit all the bins and check that which bins are full or and which are empty. The garbage monitoring system that contains these all the facilities are automatically.</a:t>
            </a:r>
            <a:endParaRPr lang="en-IN" sz="15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1608B1B-CEA6-08FB-C4D7-64F073C521E0}"/>
              </a:ext>
            </a:extLst>
          </p:cNvPr>
          <p:cNvSpPr>
            <a:spLocks noGrp="1"/>
          </p:cNvSpPr>
          <p:nvPr>
            <p:ph sz="half" idx="2"/>
          </p:nvPr>
        </p:nvSpPr>
        <p:spPr/>
        <p:txBody>
          <a:bodyPr>
            <a:normAutofit fontScale="92500" lnSpcReduction="20000"/>
          </a:bodyPr>
          <a:lstStyle/>
          <a:p>
            <a:pPr>
              <a:buFont typeface="Wingdings" panose="05000000000000000000" pitchFamily="2" charset="2"/>
              <a:buChar char="q"/>
            </a:pPr>
            <a:r>
              <a:rPr lang="en-US" b="1" u="sng" dirty="0">
                <a:solidFill>
                  <a:schemeClr val="tx1"/>
                </a:solidFill>
                <a:latin typeface="Times New Roman" panose="02020603050405020304" pitchFamily="18" charset="0"/>
                <a:cs typeface="Times New Roman" panose="02020603050405020304" pitchFamily="18" charset="0"/>
              </a:rPr>
              <a:t>Challenges</a:t>
            </a:r>
            <a:r>
              <a:rPr lang="en-US" b="1" dirty="0">
                <a:solidFill>
                  <a:schemeClr val="tx1"/>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rPr>
              <a:t>Lack of awareness</a:t>
            </a:r>
          </a:p>
          <a:p>
            <a:pPr>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rPr>
              <a:t>Transportation and Traffic</a:t>
            </a:r>
            <a:endParaRPr lang="en-IN" dirty="0">
              <a:solidFill>
                <a:srgbClr val="000000"/>
              </a:solidFill>
              <a:latin typeface="Times New Roman" panose="02020603050405020304" pitchFamily="18" charset="0"/>
              <a:ea typeface="Arial" panose="020B0604020202020204" pitchFamily="34" charset="0"/>
            </a:endParaRPr>
          </a:p>
          <a:p>
            <a:pPr>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rPr>
              <a:t>Other Social and Health issues</a:t>
            </a:r>
          </a:p>
          <a:p>
            <a:pPr>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rPr>
              <a:t>Risk in Road Construction</a:t>
            </a:r>
            <a:endParaRPr lang="en-IN" dirty="0">
              <a:solidFill>
                <a:srgbClr val="000000"/>
              </a:solidFill>
              <a:latin typeface="Times New Roman" panose="02020603050405020304" pitchFamily="18" charset="0"/>
              <a:ea typeface="Arial" panose="020B0604020202020204" pitchFamily="34" charset="0"/>
            </a:endParaRPr>
          </a:p>
          <a:p>
            <a:pPr>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Cost Overrun and Failed Estimates</a:t>
            </a:r>
            <a:endParaRPr lang="en-IN" sz="18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a:buFont typeface="Wingdings" panose="05000000000000000000" pitchFamily="2" charset="2"/>
              <a:buChar char="v"/>
            </a:pPr>
            <a:r>
              <a:rPr lang="en-IN" sz="1800" dirty="0">
                <a:solidFill>
                  <a:srgbClr val="000000"/>
                </a:solidFill>
                <a:effectLst/>
                <a:latin typeface="Times New Roman" panose="02020603050405020304" pitchFamily="18" charset="0"/>
                <a:ea typeface="Arial" panose="020B0604020202020204" pitchFamily="34" charset="0"/>
                <a:cs typeface="Mangal" panose="02040503050203030202" pitchFamily="18" charset="0"/>
              </a:rPr>
              <a:t>Increased accident rates due to the non-maintenance of damaged parts of the road.</a:t>
            </a:r>
          </a:p>
          <a:p>
            <a:pPr>
              <a:buFont typeface="Wingdings" panose="05000000000000000000" pitchFamily="2" charset="2"/>
              <a:buChar char="v"/>
            </a:pPr>
            <a:r>
              <a:rPr lang="en-IN" dirty="0">
                <a:solidFill>
                  <a:srgbClr val="000000"/>
                </a:solidFill>
                <a:latin typeface="Times New Roman" panose="02020603050405020304" pitchFamily="18" charset="0"/>
                <a:ea typeface="Arial" panose="020B0604020202020204" pitchFamily="34" charset="0"/>
                <a:cs typeface="Mangal" panose="02040503050203030202" pitchFamily="18" charset="0"/>
              </a:rPr>
              <a:t>Proper Construction of Road</a:t>
            </a:r>
            <a:endParaRPr lang="en-IN" sz="1800" dirty="0">
              <a:solidFill>
                <a:srgbClr val="000000"/>
              </a:solidFill>
              <a:effectLst/>
              <a:latin typeface="Arial" panose="020B0604020202020204" pitchFamily="34" charset="0"/>
              <a:ea typeface="Arial" panose="020B0604020202020204" pitchFamily="34" charset="0"/>
              <a:cs typeface="Mangal" panose="02040503050203030202" pitchFamily="18" charset="0"/>
            </a:endParaRPr>
          </a:p>
          <a:p>
            <a:pPr marL="0" indent="0">
              <a:buNone/>
            </a:pP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234260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D1343-FBB9-C872-A70C-3DA2D360C4C8}"/>
              </a:ext>
            </a:extLst>
          </p:cNvPr>
          <p:cNvSpPr>
            <a:spLocks noGrp="1"/>
          </p:cNvSpPr>
          <p:nvPr>
            <p:ph type="title"/>
          </p:nvPr>
        </p:nvSpPr>
        <p:spPr>
          <a:xfrm>
            <a:off x="1154954" y="1282282"/>
            <a:ext cx="2793158" cy="1600200"/>
          </a:xfrm>
        </p:spPr>
        <p:txBody>
          <a:bodyPr/>
          <a:lstStyle/>
          <a:p>
            <a:r>
              <a:rPr lang="en-US" dirty="0">
                <a:latin typeface="Times New Roman" panose="02020603050405020304" pitchFamily="18" charset="0"/>
                <a:cs typeface="Times New Roman" panose="02020603050405020304" pitchFamily="18" charset="0"/>
              </a:rPr>
              <a:t>8. </a:t>
            </a:r>
            <a:r>
              <a:rPr lang="en-US" u="sng" dirty="0">
                <a:latin typeface="Times New Roman" panose="02020603050405020304" pitchFamily="18" charset="0"/>
                <a:cs typeface="Times New Roman" panose="02020603050405020304" pitchFamily="18" charset="0"/>
              </a:rPr>
              <a:t>Smart Road Technologies of the future</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1E89EA2D-0659-A911-8A33-B324AFD63F51}"/>
              </a:ext>
            </a:extLst>
          </p:cNvPr>
          <p:cNvSpPr>
            <a:spLocks noGrp="1"/>
          </p:cNvSpPr>
          <p:nvPr>
            <p:ph type="body" sz="half" idx="2"/>
          </p:nvPr>
        </p:nvSpPr>
        <p:spPr/>
        <p:txBody>
          <a:bodyPr>
            <a:normAutofit lnSpcReduction="10000"/>
          </a:bodyPr>
          <a:lstStyle/>
          <a:p>
            <a:pPr marL="285750" indent="-285750">
              <a:buFont typeface="Wingdings" panose="05000000000000000000" pitchFamily="2" charset="2"/>
              <a:buChar char="v"/>
            </a:pPr>
            <a:r>
              <a:rPr lang="en-US" sz="1600" dirty="0">
                <a:solidFill>
                  <a:schemeClr val="bg1"/>
                </a:solidFill>
                <a:latin typeface="Times New Roman" panose="02020603050405020304" pitchFamily="18" charset="0"/>
                <a:cs typeface="Times New Roman" panose="02020603050405020304" pitchFamily="18" charset="0"/>
              </a:rPr>
              <a:t>Glow in the dark</a:t>
            </a:r>
          </a:p>
          <a:p>
            <a:pPr marL="285750" indent="-285750">
              <a:buFont typeface="Wingdings" panose="05000000000000000000" pitchFamily="2" charset="2"/>
              <a:buChar char="v"/>
            </a:pPr>
            <a:r>
              <a:rPr lang="en-US" sz="1600" dirty="0">
                <a:solidFill>
                  <a:schemeClr val="bg1"/>
                </a:solidFill>
                <a:latin typeface="Times New Roman" panose="02020603050405020304" pitchFamily="18" charset="0"/>
                <a:cs typeface="Times New Roman" panose="02020603050405020304" pitchFamily="18" charset="0"/>
              </a:rPr>
              <a:t>Interactive Light</a:t>
            </a:r>
          </a:p>
          <a:p>
            <a:pPr marL="285750" indent="-285750">
              <a:buFont typeface="Wingdings" panose="05000000000000000000" pitchFamily="2" charset="2"/>
              <a:buChar char="v"/>
            </a:pPr>
            <a:r>
              <a:rPr lang="en-US" sz="1600" dirty="0">
                <a:solidFill>
                  <a:schemeClr val="bg1"/>
                </a:solidFill>
                <a:latin typeface="Times New Roman" panose="02020603050405020304" pitchFamily="18" charset="0"/>
                <a:cs typeface="Times New Roman" panose="02020603050405020304" pitchFamily="18" charset="0"/>
              </a:rPr>
              <a:t>Wind-Powered Lights</a:t>
            </a:r>
          </a:p>
          <a:p>
            <a:pPr marL="285750" indent="-285750">
              <a:buFont typeface="Wingdings" panose="05000000000000000000" pitchFamily="2" charset="2"/>
              <a:buChar char="v"/>
            </a:pPr>
            <a:r>
              <a:rPr lang="en-IN" sz="1600" dirty="0">
                <a:solidFill>
                  <a:schemeClr val="bg1"/>
                </a:solidFill>
                <a:latin typeface="Times New Roman" panose="02020603050405020304" pitchFamily="18" charset="0"/>
                <a:cs typeface="Times New Roman" panose="02020603050405020304" pitchFamily="18" charset="0"/>
              </a:rPr>
              <a:t>Electric Priority Lane</a:t>
            </a:r>
          </a:p>
          <a:p>
            <a:pPr marL="285750" indent="-285750">
              <a:buFont typeface="Wingdings" panose="05000000000000000000" pitchFamily="2" charset="2"/>
              <a:buChar char="v"/>
            </a:pPr>
            <a:r>
              <a:rPr lang="en-IN" sz="1600" dirty="0">
                <a:solidFill>
                  <a:schemeClr val="bg1"/>
                </a:solidFill>
                <a:latin typeface="Times New Roman" panose="02020603050405020304" pitchFamily="18" charset="0"/>
                <a:cs typeface="Times New Roman" panose="02020603050405020304" pitchFamily="18" charset="0"/>
              </a:rPr>
              <a:t>Solar Roadways</a:t>
            </a:r>
          </a:p>
          <a:p>
            <a:pPr marL="285750" indent="-285750">
              <a:buFont typeface="Wingdings" panose="05000000000000000000" pitchFamily="2" charset="2"/>
              <a:buChar char="v"/>
            </a:pPr>
            <a:r>
              <a:rPr lang="en-IN" sz="1600" dirty="0">
                <a:solidFill>
                  <a:schemeClr val="bg1"/>
                </a:solidFill>
                <a:latin typeface="Times New Roman" panose="02020603050405020304" pitchFamily="18" charset="0"/>
                <a:cs typeface="Times New Roman" panose="02020603050405020304" pitchFamily="18" charset="0"/>
              </a:rPr>
              <a:t>Weather Detection</a:t>
            </a:r>
          </a:p>
          <a:p>
            <a:pPr marL="285750" indent="-285750">
              <a:buFont typeface="Wingdings" panose="05000000000000000000" pitchFamily="2" charset="2"/>
              <a:buChar char="v"/>
            </a:pPr>
            <a:r>
              <a:rPr lang="en-IN" sz="1600" dirty="0">
                <a:solidFill>
                  <a:schemeClr val="bg1"/>
                </a:solidFill>
                <a:latin typeface="Times New Roman" panose="02020603050405020304" pitchFamily="18" charset="0"/>
                <a:cs typeface="Times New Roman" panose="02020603050405020304" pitchFamily="18" charset="0"/>
              </a:rPr>
              <a:t>Traffic Detection</a:t>
            </a:r>
          </a:p>
          <a:p>
            <a:pPr marL="285750" indent="-285750">
              <a:buFont typeface="Wingdings" panose="05000000000000000000" pitchFamily="2" charset="2"/>
              <a:buChar char="v"/>
            </a:pPr>
            <a:r>
              <a:rPr lang="en-IN" sz="1600" dirty="0">
                <a:solidFill>
                  <a:schemeClr val="bg1"/>
                </a:solidFill>
                <a:latin typeface="Times New Roman" panose="02020603050405020304" pitchFamily="18" charset="0"/>
                <a:cs typeface="Times New Roman" panose="02020603050405020304" pitchFamily="18" charset="0"/>
              </a:rPr>
              <a:t>Safety &amp; Smart Mobility</a:t>
            </a:r>
          </a:p>
        </p:txBody>
      </p:sp>
      <p:pic>
        <p:nvPicPr>
          <p:cNvPr id="9" name="Content Placeholder 8">
            <a:extLst>
              <a:ext uri="{FF2B5EF4-FFF2-40B4-BE49-F238E27FC236}">
                <a16:creationId xmlns:a16="http://schemas.microsoft.com/office/drawing/2014/main" id="{10BB9E52-A413-0E1E-1C9B-E09C78B286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58118" y="2082382"/>
            <a:ext cx="5773269" cy="367434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34558641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9E79D-B8C1-59A3-45BB-6775EB17D838}"/>
              </a:ext>
            </a:extLst>
          </p:cNvPr>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9. </a:t>
            </a:r>
            <a:r>
              <a:rPr lang="en-US" sz="3600" u="sng" dirty="0">
                <a:latin typeface="Times New Roman" panose="02020603050405020304" pitchFamily="18" charset="0"/>
                <a:cs typeface="Times New Roman" panose="02020603050405020304" pitchFamily="18" charset="0"/>
              </a:rPr>
              <a:t>Bibliography</a:t>
            </a:r>
            <a:r>
              <a:rPr lang="en-US" sz="3600" dirty="0">
                <a:latin typeface="Times New Roman" panose="02020603050405020304" pitchFamily="18" charset="0"/>
                <a:cs typeface="Times New Roman" panose="02020603050405020304" pitchFamily="18" charset="0"/>
              </a:rPr>
              <a:t> :-</a:t>
            </a:r>
            <a:endParaRPr lang="en-IN" sz="3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7BEECD7-D9FF-2171-B20D-5ACC66407600}"/>
              </a:ext>
            </a:extLst>
          </p:cNvPr>
          <p:cNvSpPr>
            <a:spLocks noGrp="1"/>
          </p:cNvSpPr>
          <p:nvPr>
            <p:ph type="body" sz="half" idx="2"/>
          </p:nvPr>
        </p:nvSpPr>
        <p:spPr/>
        <p:txBody>
          <a:bodyPr>
            <a:normAutofit fontScale="85000" lnSpcReduction="20000"/>
          </a:bodyPr>
          <a:lstStyle/>
          <a:p>
            <a:pPr marL="464185" marR="0" indent="-234950" algn="just">
              <a:lnSpc>
                <a:spcPct val="110000"/>
              </a:lnSpc>
              <a:spcBef>
                <a:spcPts val="0"/>
              </a:spcBef>
              <a:spcAft>
                <a:spcPts val="110"/>
              </a:spcAft>
            </a:pPr>
            <a:r>
              <a:rPr lang="en-IN" dirty="0">
                <a:solidFill>
                  <a:schemeClr val="tx1"/>
                </a:solidFill>
                <a:effectLst/>
                <a:latin typeface="Times New Roman" panose="02020603050405020304" pitchFamily="18" charset="0"/>
                <a:ea typeface="Arial" panose="020B0604020202020204" pitchFamily="34" charset="0"/>
              </a:rPr>
              <a:t>For successfully completing my project, I have taken help from following websites or links:</a:t>
            </a:r>
            <a:endParaRPr lang="en-IN" dirty="0">
              <a:solidFill>
                <a:schemeClr val="tx1"/>
              </a:solidFill>
              <a:effectLst/>
              <a:latin typeface="Arial" panose="020B0604020202020204" pitchFamily="34" charset="0"/>
              <a:ea typeface="Arial" panose="020B0604020202020204" pitchFamily="34" charset="0"/>
            </a:endParaRPr>
          </a:p>
          <a:p>
            <a:pPr marL="342900" marR="0" lvl="0" indent="-342900">
              <a:lnSpc>
                <a:spcPct val="110000"/>
              </a:lnSpc>
              <a:spcBef>
                <a:spcPts val="0"/>
              </a:spcBef>
              <a:spcAft>
                <a:spcPts val="0"/>
              </a:spcAft>
              <a:buFont typeface="Symbol" panose="05050102010706020507" pitchFamily="18" charset="2"/>
              <a:buBlip>
                <a:blip r:embed="rId2"/>
              </a:buBlip>
            </a:pPr>
            <a:r>
              <a:rPr lang="en-IN" u="sng" dirty="0">
                <a:solidFill>
                  <a:schemeClr val="tx1"/>
                </a:solidFill>
                <a:effectLst/>
                <a:latin typeface="Times New Roman" panose="02020603050405020304" pitchFamily="18" charset="0"/>
                <a:ea typeface="Arial" panose="020B0604020202020204" pitchFamily="34" charset="0"/>
                <a:cs typeface="Mangal" panose="02040503050203030202" pitchFamily="18" charset="0"/>
                <a:hlinkClick r:id="rId3">
                  <a:extLst>
                    <a:ext uri="{A12FA001-AC4F-418D-AE19-62706E023703}">
                      <ahyp:hlinkClr xmlns:ahyp="http://schemas.microsoft.com/office/drawing/2018/hyperlinkcolor" val="tx"/>
                    </a:ext>
                  </a:extLst>
                </a:hlinkClick>
              </a:rPr>
              <a:t>www.goggle.com</a:t>
            </a:r>
            <a:endParaRPr lang="en-IN" dirty="0">
              <a:solidFill>
                <a:schemeClr val="tx1"/>
              </a:solidFill>
              <a:effectLst/>
              <a:latin typeface="Arial" panose="020B0604020202020204" pitchFamily="34" charset="0"/>
              <a:ea typeface="Arial" panose="020B0604020202020204" pitchFamily="34" charset="0"/>
              <a:cs typeface="Mangal" panose="02040503050203030202" pitchFamily="18" charset="0"/>
            </a:endParaRPr>
          </a:p>
          <a:p>
            <a:pPr marL="342900" marR="0" lvl="0" indent="-342900">
              <a:lnSpc>
                <a:spcPct val="110000"/>
              </a:lnSpc>
              <a:spcBef>
                <a:spcPts val="0"/>
              </a:spcBef>
              <a:spcAft>
                <a:spcPts val="110"/>
              </a:spcAft>
              <a:buFont typeface="Symbol" panose="05050102010706020507" pitchFamily="18" charset="2"/>
              <a:buBlip>
                <a:blip r:embed="rId2"/>
              </a:buBlip>
            </a:pPr>
            <a:r>
              <a:rPr lang="en-IN" u="sng" dirty="0">
                <a:solidFill>
                  <a:srgbClr val="8F8F8F"/>
                </a:solidFill>
                <a:latin typeface="Times New Roman" panose="02020603050405020304" pitchFamily="18" charset="0"/>
                <a:ea typeface="Arial" panose="020B0604020202020204" pitchFamily="34" charset="0"/>
                <a:cs typeface="Mangal" panose="02040503050203030202" pitchFamily="18" charset="0"/>
                <a:hlinkClick r:id="rId4">
                  <a:extLst>
                    <a:ext uri="{A12FA001-AC4F-418D-AE19-62706E023703}">
                      <ahyp:hlinkClr xmlns:ahyp="http://schemas.microsoft.com/office/drawing/2018/hyperlinkcolor" val="tx"/>
                    </a:ext>
                  </a:extLst>
                </a:hlinkClick>
              </a:rPr>
              <a:t>www.wikipedia.</a:t>
            </a:r>
            <a:r>
              <a:rPr lang="en-IN" u="sng" dirty="0">
                <a:solidFill>
                  <a:schemeClr val="tx1"/>
                </a:solidFill>
                <a:latin typeface="Times New Roman" panose="02020603050405020304" pitchFamily="18" charset="0"/>
                <a:ea typeface="Arial" panose="020B0604020202020204" pitchFamily="34" charset="0"/>
                <a:cs typeface="Mangal" panose="02040503050203030202" pitchFamily="18" charset="0"/>
                <a:hlinkClick r:id="rId4">
                  <a:extLst>
                    <a:ext uri="{A12FA001-AC4F-418D-AE19-62706E023703}">
                      <ahyp:hlinkClr xmlns:ahyp="http://schemas.microsoft.com/office/drawing/2018/hyperlinkcolor" val="tx"/>
                    </a:ext>
                  </a:extLst>
                </a:hlinkClick>
              </a:rPr>
              <a:t>com</a:t>
            </a:r>
            <a:endParaRPr lang="en-IN" u="sng" dirty="0">
              <a:solidFill>
                <a:schemeClr val="tx1"/>
              </a:solidFill>
              <a:latin typeface="Times New Roman" panose="02020603050405020304" pitchFamily="18" charset="0"/>
              <a:ea typeface="Arial" panose="020B0604020202020204" pitchFamily="34" charset="0"/>
              <a:cs typeface="Mangal" panose="02040503050203030202" pitchFamily="18" charset="0"/>
            </a:endParaRPr>
          </a:p>
          <a:p>
            <a:pPr marR="0" lvl="0">
              <a:lnSpc>
                <a:spcPct val="110000"/>
              </a:lnSpc>
              <a:spcBef>
                <a:spcPts val="0"/>
              </a:spcBef>
              <a:spcAft>
                <a:spcPts val="110"/>
              </a:spcAft>
            </a:pPr>
            <a:endParaRPr lang="en-IN" dirty="0">
              <a:solidFill>
                <a:schemeClr val="tx1"/>
              </a:solidFill>
              <a:effectLst/>
              <a:latin typeface="Arial" panose="020B0604020202020204" pitchFamily="34" charset="0"/>
              <a:ea typeface="Arial" panose="020B0604020202020204" pitchFamily="34" charset="0"/>
            </a:endParaRPr>
          </a:p>
          <a:p>
            <a:pPr marL="342900" marR="0" lvl="0" indent="-342900">
              <a:lnSpc>
                <a:spcPct val="110000"/>
              </a:lnSpc>
              <a:spcBef>
                <a:spcPts val="0"/>
              </a:spcBef>
              <a:spcAft>
                <a:spcPts val="0"/>
              </a:spcAft>
              <a:buFont typeface="Symbol" panose="05050102010706020507" pitchFamily="18" charset="2"/>
              <a:buBlip>
                <a:blip r:embed="rId2"/>
              </a:buBlip>
            </a:pPr>
            <a:r>
              <a:rPr lang="en-IN" dirty="0">
                <a:solidFill>
                  <a:schemeClr val="tx1"/>
                </a:solidFill>
                <a:effectLst/>
                <a:latin typeface="Times New Roman" panose="02020603050405020304" pitchFamily="18" charset="0"/>
                <a:ea typeface="Arial" panose="020B0604020202020204" pitchFamily="34" charset="0"/>
                <a:cs typeface="Mangal" panose="02040503050203030202" pitchFamily="18" charset="0"/>
              </a:rPr>
              <a:t>YouTube</a:t>
            </a:r>
            <a:endParaRPr lang="en-IN" dirty="0">
              <a:solidFill>
                <a:schemeClr val="tx1"/>
              </a:solidFill>
              <a:effectLst/>
              <a:latin typeface="Arial" panose="020B0604020202020204" pitchFamily="34" charset="0"/>
              <a:ea typeface="Arial" panose="020B0604020202020204" pitchFamily="34" charset="0"/>
              <a:cs typeface="Mangal" panose="02040503050203030202" pitchFamily="18" charset="0"/>
            </a:endParaRPr>
          </a:p>
          <a:p>
            <a:pPr marL="457200" marR="0" indent="-234950">
              <a:lnSpc>
                <a:spcPct val="110000"/>
              </a:lnSpc>
              <a:spcBef>
                <a:spcPts val="0"/>
              </a:spcBef>
              <a:spcAft>
                <a:spcPts val="0"/>
              </a:spcAft>
            </a:pPr>
            <a:r>
              <a:rPr lang="en-IN" dirty="0">
                <a:solidFill>
                  <a:schemeClr val="tx1"/>
                </a:solidFill>
                <a:effectLst/>
                <a:latin typeface="Times New Roman" panose="02020603050405020304" pitchFamily="18" charset="0"/>
                <a:ea typeface="Arial" panose="020B0604020202020204" pitchFamily="34" charset="0"/>
                <a:cs typeface="Mangal" panose="02040503050203030202" pitchFamily="18" charset="0"/>
              </a:rPr>
              <a:t> </a:t>
            </a:r>
            <a:endParaRPr lang="en-IN" dirty="0">
              <a:solidFill>
                <a:schemeClr val="tx1"/>
              </a:solidFill>
              <a:effectLst/>
              <a:latin typeface="Arial" panose="020B0604020202020204" pitchFamily="34" charset="0"/>
              <a:ea typeface="Arial" panose="020B0604020202020204" pitchFamily="34" charset="0"/>
              <a:cs typeface="Mangal" panose="02040503050203030202" pitchFamily="18" charset="0"/>
            </a:endParaRPr>
          </a:p>
          <a:p>
            <a:pPr marL="342900" marR="0" lvl="0" indent="-342900">
              <a:lnSpc>
                <a:spcPct val="110000"/>
              </a:lnSpc>
              <a:spcBef>
                <a:spcPts val="0"/>
              </a:spcBef>
              <a:spcAft>
                <a:spcPts val="0"/>
              </a:spcAft>
              <a:buFont typeface="Symbol" panose="05050102010706020507" pitchFamily="18" charset="2"/>
              <a:buBlip>
                <a:blip r:embed="rId2"/>
              </a:buBlip>
            </a:pPr>
            <a:r>
              <a:rPr lang="en-IN" u="sng" dirty="0">
                <a:solidFill>
                  <a:schemeClr val="tx1"/>
                </a:solidFill>
                <a:effectLst/>
                <a:latin typeface="Times New Roman" panose="02020603050405020304" pitchFamily="18" charset="0"/>
                <a:ea typeface="Arial" panose="020B0604020202020204" pitchFamily="34" charset="0"/>
                <a:cs typeface="Mangal" panose="02040503050203030202" pitchFamily="18" charset="0"/>
                <a:hlinkClick r:id="rId5">
                  <a:extLst>
                    <a:ext uri="{A12FA001-AC4F-418D-AE19-62706E023703}">
                      <ahyp:hlinkClr xmlns:ahyp="http://schemas.microsoft.com/office/drawing/2018/hyperlinkcolor" val="tx"/>
                    </a:ext>
                  </a:extLst>
                </a:hlinkClick>
              </a:rPr>
              <a:t>https://create.arduino.cc/projecthub/sagnik2017ghosh/iot-based-smart-street-light-system-8e9929</a:t>
            </a:r>
            <a:endParaRPr lang="en-IN" dirty="0">
              <a:solidFill>
                <a:schemeClr val="tx1"/>
              </a:solidFill>
              <a:effectLst/>
              <a:latin typeface="Arial" panose="020B0604020202020204" pitchFamily="34" charset="0"/>
              <a:ea typeface="Arial" panose="020B0604020202020204" pitchFamily="34" charset="0"/>
              <a:cs typeface="Mangal" panose="02040503050203030202" pitchFamily="18" charset="0"/>
            </a:endParaRPr>
          </a:p>
          <a:p>
            <a:pPr marL="457200" marR="0" indent="-234950">
              <a:lnSpc>
                <a:spcPct val="110000"/>
              </a:lnSpc>
              <a:spcBef>
                <a:spcPts val="0"/>
              </a:spcBef>
              <a:spcAft>
                <a:spcPts val="0"/>
              </a:spcAft>
            </a:pPr>
            <a:r>
              <a:rPr lang="en-IN" dirty="0">
                <a:solidFill>
                  <a:schemeClr val="tx1"/>
                </a:solidFill>
                <a:effectLst/>
                <a:latin typeface="Times New Roman" panose="02020603050405020304" pitchFamily="18" charset="0"/>
                <a:ea typeface="Arial" panose="020B0604020202020204" pitchFamily="34" charset="0"/>
                <a:cs typeface="Mangal" panose="02040503050203030202" pitchFamily="18" charset="0"/>
              </a:rPr>
              <a:t> </a:t>
            </a:r>
            <a:endParaRPr lang="en-IN" dirty="0">
              <a:solidFill>
                <a:schemeClr val="tx1"/>
              </a:solidFill>
              <a:effectLst/>
              <a:latin typeface="Arial" panose="020B0604020202020204" pitchFamily="34" charset="0"/>
              <a:ea typeface="Arial" panose="020B0604020202020204" pitchFamily="34" charset="0"/>
              <a:cs typeface="Mangal" panose="02040503050203030202" pitchFamily="18" charset="0"/>
            </a:endParaRPr>
          </a:p>
          <a:p>
            <a:pPr marL="342900" marR="0" lvl="0" indent="-342900">
              <a:lnSpc>
                <a:spcPct val="110000"/>
              </a:lnSpc>
              <a:spcBef>
                <a:spcPts val="0"/>
              </a:spcBef>
              <a:spcAft>
                <a:spcPts val="0"/>
              </a:spcAft>
              <a:buFont typeface="Symbol" panose="05050102010706020507" pitchFamily="18" charset="2"/>
              <a:buBlip>
                <a:blip r:embed="rId2"/>
              </a:buBlip>
            </a:pPr>
            <a:r>
              <a:rPr lang="en-IN" u="sng" dirty="0">
                <a:solidFill>
                  <a:schemeClr val="tx1"/>
                </a:solidFill>
                <a:effectLst/>
                <a:latin typeface="Times New Roman" panose="02020603050405020304" pitchFamily="18" charset="0"/>
                <a:ea typeface="Arial" panose="020B0604020202020204" pitchFamily="34" charset="0"/>
                <a:cs typeface="Mangal" panose="02040503050203030202" pitchFamily="18" charset="0"/>
                <a:hlinkClick r:id="rId6">
                  <a:extLst>
                    <a:ext uri="{A12FA001-AC4F-418D-AE19-62706E023703}">
                      <ahyp:hlinkClr xmlns:ahyp="http://schemas.microsoft.com/office/drawing/2018/hyperlinkcolor" val="tx"/>
                    </a:ext>
                  </a:extLst>
                </a:hlinkClick>
              </a:rPr>
              <a:t>https://www.researchgate.net/publication/360620242_ACCIDENT_DETECTION_AND_ALERT_SYSTEM</a:t>
            </a:r>
            <a:endParaRPr lang="en-IN" dirty="0">
              <a:solidFill>
                <a:schemeClr val="tx1"/>
              </a:solidFill>
              <a:effectLst/>
              <a:latin typeface="Arial" panose="020B0604020202020204" pitchFamily="34" charset="0"/>
              <a:ea typeface="Arial" panose="020B0604020202020204" pitchFamily="34" charset="0"/>
              <a:cs typeface="Mangal" panose="02040503050203030202" pitchFamily="18" charset="0"/>
            </a:endParaRPr>
          </a:p>
          <a:p>
            <a:pPr marL="457200" marR="0" indent="-234950">
              <a:lnSpc>
                <a:spcPct val="110000"/>
              </a:lnSpc>
              <a:spcBef>
                <a:spcPts val="0"/>
              </a:spcBef>
              <a:spcAft>
                <a:spcPts val="0"/>
              </a:spcAft>
            </a:pPr>
            <a:r>
              <a:rPr lang="en-IN" dirty="0">
                <a:solidFill>
                  <a:schemeClr val="tx1"/>
                </a:solidFill>
                <a:effectLst/>
                <a:latin typeface="Times New Roman" panose="02020603050405020304" pitchFamily="18" charset="0"/>
                <a:ea typeface="Arial" panose="020B0604020202020204" pitchFamily="34" charset="0"/>
                <a:cs typeface="Mangal" panose="02040503050203030202" pitchFamily="18" charset="0"/>
              </a:rPr>
              <a:t> </a:t>
            </a:r>
            <a:endParaRPr lang="en-IN" dirty="0">
              <a:solidFill>
                <a:schemeClr val="tx1"/>
              </a:solidFill>
              <a:effectLst/>
              <a:latin typeface="Arial" panose="020B0604020202020204" pitchFamily="34" charset="0"/>
              <a:ea typeface="Arial" panose="020B0604020202020204" pitchFamily="34" charset="0"/>
              <a:cs typeface="Mangal" panose="02040503050203030202" pitchFamily="18" charset="0"/>
            </a:endParaRPr>
          </a:p>
          <a:p>
            <a:pPr marL="342900" marR="0" lvl="0" indent="-342900">
              <a:lnSpc>
                <a:spcPct val="110000"/>
              </a:lnSpc>
              <a:spcBef>
                <a:spcPts val="0"/>
              </a:spcBef>
              <a:spcAft>
                <a:spcPts val="110"/>
              </a:spcAft>
              <a:buFont typeface="Symbol" panose="05050102010706020507" pitchFamily="18" charset="2"/>
              <a:buBlip>
                <a:blip r:embed="rId2"/>
              </a:buBlip>
            </a:pPr>
            <a:r>
              <a:rPr lang="en-IN" u="sng" dirty="0">
                <a:solidFill>
                  <a:schemeClr val="tx1"/>
                </a:solidFill>
                <a:effectLst/>
                <a:latin typeface="Times New Roman" panose="02020603050405020304" pitchFamily="18" charset="0"/>
                <a:ea typeface="Arial" panose="020B0604020202020204" pitchFamily="34" charset="0"/>
                <a:cs typeface="Mangal" panose="02040503050203030202" pitchFamily="18" charset="0"/>
                <a:hlinkClick r:id="rId7">
                  <a:extLst>
                    <a:ext uri="{A12FA001-AC4F-418D-AE19-62706E023703}">
                      <ahyp:hlinkClr xmlns:ahyp="http://schemas.microsoft.com/office/drawing/2018/hyperlinkcolor" val="tx"/>
                    </a:ext>
                  </a:extLst>
                </a:hlinkClick>
              </a:rPr>
              <a:t>https://www.pantechsolutions.net/iot-based-smart-waste-management-system-for-smart-city</a:t>
            </a:r>
            <a:endParaRPr lang="en-IN" dirty="0">
              <a:solidFill>
                <a:schemeClr val="tx1"/>
              </a:solidFill>
              <a:effectLst/>
              <a:latin typeface="Arial" panose="020B0604020202020204" pitchFamily="34" charset="0"/>
              <a:ea typeface="Arial" panose="020B060402020202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237257607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CAD597-B389-710F-0CD8-CAC467C766AD}"/>
              </a:ext>
            </a:extLst>
          </p:cNvPr>
          <p:cNvSpPr>
            <a:spLocks noGrp="1"/>
          </p:cNvSpPr>
          <p:nvPr>
            <p:ph sz="half" idx="1"/>
          </p:nvPr>
        </p:nvSpPr>
        <p:spPr/>
        <p:txBody>
          <a:bodyPr/>
          <a:lstStyle/>
          <a:p>
            <a:pPr marL="514985" marR="0" indent="-285750">
              <a:lnSpc>
                <a:spcPct val="110000"/>
              </a:lnSpc>
              <a:spcBef>
                <a:spcPts val="0"/>
              </a:spcBef>
              <a:spcAft>
                <a:spcPts val="110"/>
              </a:spcAft>
              <a:buFont typeface="Wingdings" panose="05000000000000000000" pitchFamily="2" charset="2"/>
              <a:buChar char="v"/>
            </a:pPr>
            <a:r>
              <a:rPr lang="en-IN" sz="1600" b="1" dirty="0">
                <a:solidFill>
                  <a:srgbClr val="000000"/>
                </a:solidFill>
                <a:effectLst/>
                <a:latin typeface="Times New Roman" panose="02020603050405020304" pitchFamily="18" charset="0"/>
                <a:ea typeface="Arial" panose="020B0604020202020204" pitchFamily="34" charset="0"/>
              </a:rPr>
              <a:t>What we learnt from this project ?</a:t>
            </a:r>
            <a:endParaRPr lang="en-IN" sz="1600" dirty="0">
              <a:solidFill>
                <a:srgbClr val="000000"/>
              </a:solidFill>
              <a:effectLst/>
              <a:latin typeface="Arial" panose="020B0604020202020204" pitchFamily="34" charset="0"/>
              <a:ea typeface="Arial" panose="020B0604020202020204" pitchFamily="34" charset="0"/>
            </a:endParaRPr>
          </a:p>
          <a:p>
            <a:pPr marL="742950" marR="0" indent="-285750">
              <a:lnSpc>
                <a:spcPct val="110000"/>
              </a:lnSpc>
              <a:spcBef>
                <a:spcPts val="0"/>
              </a:spcBef>
              <a:spcAft>
                <a:spcPts val="110"/>
              </a:spcAft>
              <a:buFont typeface="Wingdings" panose="05000000000000000000" pitchFamily="2" charset="2"/>
              <a:buChar char="q"/>
            </a:pPr>
            <a:r>
              <a:rPr lang="en-IN" sz="1600" dirty="0">
                <a:solidFill>
                  <a:srgbClr val="000000"/>
                </a:solidFill>
                <a:effectLst/>
                <a:latin typeface="Times New Roman" panose="02020603050405020304" pitchFamily="18" charset="0"/>
                <a:ea typeface="Arial" panose="020B0604020202020204" pitchFamily="34" charset="0"/>
              </a:rPr>
              <a:t>There are so many problems that we are appearance in some cities such as pollution, traffic problems, safety, other social and health issues, mob crowding on roads, some mannerless activities.. or many more. So learnt that, we can do something for this type of city or roads with the help of  IOT(“Internet Of Things”).</a:t>
            </a:r>
            <a:endParaRPr lang="en-IN" sz="1600" dirty="0">
              <a:solidFill>
                <a:srgbClr val="000000"/>
              </a:solidFill>
              <a:effectLst/>
              <a:latin typeface="Arial" panose="020B0604020202020204" pitchFamily="34" charset="0"/>
              <a:ea typeface="Arial" panose="020B0604020202020204" pitchFamily="34" charset="0"/>
            </a:endParaRPr>
          </a:p>
          <a:p>
            <a:endParaRPr lang="en-IN" dirty="0"/>
          </a:p>
        </p:txBody>
      </p:sp>
      <p:sp>
        <p:nvSpPr>
          <p:cNvPr id="4" name="Content Placeholder 3">
            <a:extLst>
              <a:ext uri="{FF2B5EF4-FFF2-40B4-BE49-F238E27FC236}">
                <a16:creationId xmlns:a16="http://schemas.microsoft.com/office/drawing/2014/main" id="{75C010CF-9B87-FF45-CDF4-D1C039FB9D49}"/>
              </a:ext>
            </a:extLst>
          </p:cNvPr>
          <p:cNvSpPr>
            <a:spLocks noGrp="1"/>
          </p:cNvSpPr>
          <p:nvPr>
            <p:ph sz="half" idx="2"/>
          </p:nvPr>
        </p:nvSpPr>
        <p:spPr/>
        <p:txBody>
          <a:bodyPr/>
          <a:lstStyle/>
          <a:p>
            <a:pPr marL="514985" marR="0" indent="-285750">
              <a:lnSpc>
                <a:spcPct val="110000"/>
              </a:lnSpc>
              <a:spcBef>
                <a:spcPts val="0"/>
              </a:spcBef>
              <a:spcAft>
                <a:spcPts val="110"/>
              </a:spcAft>
              <a:buFont typeface="Wingdings" panose="05000000000000000000" pitchFamily="2" charset="2"/>
              <a:buChar char="v"/>
            </a:pPr>
            <a:r>
              <a:rPr lang="en-IN"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Our role</a:t>
            </a:r>
            <a:r>
              <a:rPr lang="en-IN"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t>
            </a:r>
          </a:p>
          <a:p>
            <a:pPr marL="514985" marR="0" indent="-285750">
              <a:lnSpc>
                <a:spcPct val="110000"/>
              </a:lnSpc>
              <a:spcBef>
                <a:spcPts val="0"/>
              </a:spcBef>
              <a:spcAft>
                <a:spcPts val="110"/>
              </a:spcAft>
              <a:buFont typeface="Wingdings" panose="05000000000000000000" pitchFamily="2" charset="2"/>
              <a:buChar char="q"/>
            </a:pPr>
            <a:r>
              <a:rPr lang="en-IN"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we should doing something better and make a good management system with smart technology for roads.</a:t>
            </a:r>
          </a:p>
          <a:p>
            <a:pPr marL="0" indent="0">
              <a:buNone/>
            </a:pPr>
            <a:endParaRPr lang="en-IN" dirty="0"/>
          </a:p>
        </p:txBody>
      </p:sp>
    </p:spTree>
    <p:extLst>
      <p:ext uri="{BB962C8B-B14F-4D97-AF65-F5344CB8AC3E}">
        <p14:creationId xmlns:p14="http://schemas.microsoft.com/office/powerpoint/2010/main" val="2492459236"/>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372</TotalTime>
  <Words>1401</Words>
  <Application>Microsoft Office PowerPoint</Application>
  <PresentationFormat>Widescreen</PresentationFormat>
  <Paragraphs>126</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Century Gothic</vt:lpstr>
      <vt:lpstr>Symbol</vt:lpstr>
      <vt:lpstr>Times New Roman</vt:lpstr>
      <vt:lpstr>Wingdings</vt:lpstr>
      <vt:lpstr>Wingdings 3</vt:lpstr>
      <vt:lpstr>Ion Boardroom</vt:lpstr>
      <vt:lpstr>BHAGWAN MAHAVEER COLLEGE OF COMPUTER APPLICATION, SURAT M.Sc.IT (Integrated) TY B.Sc. (Information Technology) Semester 5 Subject : 1020406503 Internet Of Things </vt:lpstr>
      <vt:lpstr>PROJECT OVERVIEW </vt:lpstr>
      <vt:lpstr>What are Smart Roads?</vt:lpstr>
      <vt:lpstr>The Problem: Traffics in Mega cities Increased accidents rates People Throwing trash anywhere Potholes: Severe accidents can occur when blacktop or asphalt are missing in large chunks from road.   </vt:lpstr>
      <vt:lpstr>Abstract :-</vt:lpstr>
      <vt:lpstr>2. Introduction :-</vt:lpstr>
      <vt:lpstr>3. Project Profile :-</vt:lpstr>
      <vt:lpstr>3.3 Gantt Chart :-</vt:lpstr>
      <vt:lpstr>4. System Analysis :-</vt:lpstr>
      <vt:lpstr>5. System Design :-</vt:lpstr>
      <vt:lpstr>5.2 Flow Chart :-</vt:lpstr>
      <vt:lpstr>5.3 Blue Print :-</vt:lpstr>
      <vt:lpstr>6. Implementation :-</vt:lpstr>
      <vt:lpstr>What are the Problems Faced in Road Transport in India?</vt:lpstr>
      <vt:lpstr>7. Benefits &amp; Challenges :-</vt:lpstr>
      <vt:lpstr>8. Smart Road Technologies of the future :-</vt:lpstr>
      <vt:lpstr>9. Bibliography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ROAD</dc:title>
  <dc:creator>Avadh Raval</dc:creator>
  <cp:lastModifiedBy>Avadh Raval</cp:lastModifiedBy>
  <cp:revision>11</cp:revision>
  <dcterms:created xsi:type="dcterms:W3CDTF">2022-12-26T14:10:18Z</dcterms:created>
  <dcterms:modified xsi:type="dcterms:W3CDTF">2022-12-29T07:14:22Z</dcterms:modified>
</cp:coreProperties>
</file>